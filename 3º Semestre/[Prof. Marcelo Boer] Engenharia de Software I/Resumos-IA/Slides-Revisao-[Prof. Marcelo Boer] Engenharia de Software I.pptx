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1828800"/>
            <a:ext cx="6400800" cy="6400800"/>
          </a:xfrm>
          <a:prstGeom prst="ellipse">
            <a:avLst/>
          </a:prstGeom>
          <a:solidFill>
            <a:srgbClr val="2DD4B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818CF8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777240"/>
            <a:ext cx="4160520" cy="457200"/>
          </a:xfrm>
          <a:prstGeom prst="roundRect">
            <a:avLst>
              <a:gd name="adj" fmla="val 50000"/>
            </a:avLst>
          </a:prstGeom>
          <a:solidFill>
            <a:srgbClr val="113A3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77724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2DD4BF"/>
                </a:solidFill>
                <a:latin typeface="Segoe UI"/>
              </a:rPr>
              <a:t>🎓 SISTEMAS DE INFORMAÇÃO · UNIFEF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21031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F1F5F9"/>
                </a:solidFill>
                <a:latin typeface="Segoe UI"/>
              </a:rPr>
              <a:t>Engenharia de Software 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60520"/>
            <a:ext cx="502920" cy="41148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34340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4A3B8"/>
                </a:solidFill>
                <a:latin typeface="Segoe UI"/>
              </a:rPr>
              <a:t>3º Semestre · Guia de Revisão e Síntese de Conteúdo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006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B6B85"/>
                </a:solidFill>
                <a:latin typeface="Segoe UI"/>
              </a:rPr>
              <a:t>Docente responsável: Prof. Marcelo Boer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6355080"/>
            <a:ext cx="10911535" cy="10972"/>
          </a:xfrm>
          <a:prstGeom prst="roundRect">
            <a:avLst>
              <a:gd name="adj" fmla="val 0"/>
            </a:avLst>
          </a:prstGeom>
          <a:solidFill>
            <a:srgbClr val="25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2823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B85"/>
                </a:solidFill>
                <a:latin typeface="Segoe UI"/>
              </a:rPr>
              <a:t>UniFEF  ·  Sistemas de Informação  ·  Engenharia de Software 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22815" y="642823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22000"/>
              </a:lnSpc>
            </a:pPr>
            <a:r>
              <a:rPr sz="1000" b="0">
                <a:solidFill>
                  <a:srgbClr val="5B6B85"/>
                </a:solidFill>
                <a:latin typeface="Segoe UI"/>
              </a:rP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59" y="384048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5400" b="1">
                <a:solidFill>
                  <a:srgbClr val="253352"/>
                </a:solidFill>
                <a:latin typeface="Segoe UI"/>
              </a:rPr>
              <a:t>01</a:t>
            </a:r>
          </a:p>
        </p:txBody>
      </p:sp>
      <p:sp>
        <p:nvSpPr>
          <p:cNvPr id="3" name="Oval 2"/>
          <p:cNvSpPr/>
          <p:nvPr/>
        </p:nvSpPr>
        <p:spPr>
          <a:xfrm>
            <a:off x="1600200" y="502920"/>
            <a:ext cx="566928" cy="566928"/>
          </a:xfrm>
          <a:prstGeom prst="ellipse">
            <a:avLst/>
          </a:prstGeom>
          <a:solidFill>
            <a:srgbClr val="151E32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50292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2200" b="0">
                <a:solidFill>
                  <a:srgbClr val="2DD4BF"/>
                </a:solidFill>
                <a:latin typeface="Segoe UI"/>
              </a:rPr>
              <a:t>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54864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2400" b="1">
                <a:solidFill>
                  <a:srgbClr val="F1F5F9"/>
                </a:solidFill>
                <a:latin typeface="Segoe UI"/>
              </a:rPr>
              <a:t>VISÃO GERAL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11535" cy="4663440"/>
          </a:xfrm>
          <a:prstGeom prst="roundRect">
            <a:avLst>
              <a:gd name="adj" fmla="val 4500"/>
            </a:avLst>
          </a:prstGeom>
          <a:solidFill>
            <a:srgbClr val="151E32"/>
          </a:solidFill>
          <a:ln w="1270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19" y="1965960"/>
            <a:ext cx="9814255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F1F5F9"/>
                </a:solidFill>
                <a:latin typeface="Segoe UI"/>
              </a:rPr>
              <a:t>A disciplina de Engenharia de Software I, ministrada pelo Prof. Marcelo Boer, aborda os fundamentos da engenharia de requisitos e modelagem orientada a objetos. Utilizando o aplicativo prático 'Desapega Já' como estudo de caso, os alunos aprendem a mapear requisitos funcionais e não-funcionais, modelar diagramas de classes e estruturar diagramas e descrições detalhadas de casos de uso com a ferramenta Astah UML.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355080"/>
            <a:ext cx="10911535" cy="10972"/>
          </a:xfrm>
          <a:prstGeom prst="roundRect">
            <a:avLst>
              <a:gd name="adj" fmla="val 0"/>
            </a:avLst>
          </a:prstGeom>
          <a:solidFill>
            <a:srgbClr val="25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2823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B85"/>
                </a:solidFill>
                <a:latin typeface="Segoe UI"/>
              </a:rPr>
              <a:t>UniFEF  ·  Sistemas de Informação  ·  Engenharia de Software 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2815" y="642823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22000"/>
              </a:lnSpc>
            </a:pPr>
            <a:r>
              <a:rPr sz="1000" b="0">
                <a:solidFill>
                  <a:srgbClr val="5B6B85"/>
                </a:solidFill>
                <a:latin typeface="Segoe UI"/>
              </a:rPr>
              <a:t>02 /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59" y="384048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5400" b="1">
                <a:solidFill>
                  <a:srgbClr val="253352"/>
                </a:solidFill>
                <a:latin typeface="Segoe UI"/>
              </a:rPr>
              <a:t>02</a:t>
            </a:r>
          </a:p>
        </p:txBody>
      </p:sp>
      <p:sp>
        <p:nvSpPr>
          <p:cNvPr id="3" name="Oval 2"/>
          <p:cNvSpPr/>
          <p:nvPr/>
        </p:nvSpPr>
        <p:spPr>
          <a:xfrm>
            <a:off x="1600200" y="502920"/>
            <a:ext cx="566928" cy="566928"/>
          </a:xfrm>
          <a:prstGeom prst="ellipse">
            <a:avLst/>
          </a:prstGeom>
          <a:solidFill>
            <a:srgbClr val="151E32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50292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2200" b="0">
                <a:solidFill>
                  <a:srgbClr val="2DD4BF"/>
                </a:solidFill>
                <a:latin typeface="Segoe UI"/>
              </a:rPr>
              <a:t>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54864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2400" b="1">
                <a:solidFill>
                  <a:srgbClr val="F1F5F9"/>
                </a:solidFill>
                <a:latin typeface="Segoe UI"/>
              </a:rPr>
              <a:t>CONCEITOS FUNDAMENTAIS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11535" cy="1617727"/>
          </a:xfrm>
          <a:prstGeom prst="roundRect">
            <a:avLst>
              <a:gd name="adj" fmla="val 9000"/>
            </a:avLst>
          </a:prstGeom>
          <a:solidFill>
            <a:srgbClr val="151E32"/>
          </a:solidFill>
          <a:ln w="1270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1997583"/>
            <a:ext cx="457200" cy="457200"/>
          </a:xfrm>
          <a:prstGeom prst="ellipse">
            <a:avLst/>
          </a:prstGeom>
          <a:solidFill>
            <a:srgbClr val="113A3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97583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2DD4B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545336"/>
            <a:ext cx="9585655" cy="13616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Levantamento de Requisitos (Funcionais e Não-Funcionais): Identificação das ações que o sistema deve realizar (ex: cadastrar produto, buscar por proximidade) e suas restrições de qualidade (ex: usabilidade, segurança).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81351"/>
            <a:ext cx="10911535" cy="1402525"/>
          </a:xfrm>
          <a:prstGeom prst="roundRect">
            <a:avLst>
              <a:gd name="adj" fmla="val 9000"/>
            </a:avLst>
          </a:prstGeom>
          <a:solidFill>
            <a:srgbClr val="151E32"/>
          </a:solidFill>
          <a:ln w="1270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3654013"/>
            <a:ext cx="457200" cy="457200"/>
          </a:xfrm>
          <a:prstGeom prst="ellipse">
            <a:avLst/>
          </a:prstGeom>
          <a:solidFill>
            <a:srgbClr val="113A3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654013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2DD4B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309367"/>
            <a:ext cx="9585655" cy="114649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Modelagem de Casos de Uso (UML): Representação dos atores (Anunciante e Cliente) e suas interações com o sistema, detalhando fluxos normais e alternativos de cenários como Login e Cadastro.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730180"/>
            <a:ext cx="10911535" cy="1350579"/>
          </a:xfrm>
          <a:prstGeom prst="roundRect">
            <a:avLst>
              <a:gd name="adj" fmla="val 9000"/>
            </a:avLst>
          </a:prstGeom>
          <a:solidFill>
            <a:srgbClr val="151E32"/>
          </a:solidFill>
          <a:ln w="1270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5176870"/>
            <a:ext cx="457200" cy="457200"/>
          </a:xfrm>
          <a:prstGeom prst="ellipse">
            <a:avLst/>
          </a:prstGeom>
          <a:solidFill>
            <a:srgbClr val="113A3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17687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2DD4B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858196"/>
            <a:ext cx="9585655" cy="109454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Diagrama de Classes: Definição da estrutura estática do sistema através de classes (Anuncio, Interessado, Compra), seus atributos e relacionamentos para mapear o domínio do software.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6355080"/>
            <a:ext cx="10911535" cy="10972"/>
          </a:xfrm>
          <a:prstGeom prst="roundRect">
            <a:avLst>
              <a:gd name="adj" fmla="val 0"/>
            </a:avLst>
          </a:prstGeom>
          <a:solidFill>
            <a:srgbClr val="25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2823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B85"/>
                </a:solidFill>
                <a:latin typeface="Segoe UI"/>
              </a:rPr>
              <a:t>UniFEF  ·  Sistemas de Informação  ·  Engenharia de Software 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2815" y="642823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22000"/>
              </a:lnSpc>
            </a:pPr>
            <a:r>
              <a:rPr sz="1000" b="0">
                <a:solidFill>
                  <a:srgbClr val="5B6B85"/>
                </a:solidFill>
                <a:latin typeface="Segoe UI"/>
              </a:rPr>
              <a:t>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59" y="384048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5400" b="1">
                <a:solidFill>
                  <a:srgbClr val="253352"/>
                </a:solidFill>
                <a:latin typeface="Segoe UI"/>
              </a:rPr>
              <a:t>03</a:t>
            </a:r>
          </a:p>
        </p:txBody>
      </p:sp>
      <p:sp>
        <p:nvSpPr>
          <p:cNvPr id="3" name="Oval 2"/>
          <p:cNvSpPr/>
          <p:nvPr/>
        </p:nvSpPr>
        <p:spPr>
          <a:xfrm>
            <a:off x="1600200" y="502920"/>
            <a:ext cx="566928" cy="566928"/>
          </a:xfrm>
          <a:prstGeom prst="ellipse">
            <a:avLst/>
          </a:prstGeom>
          <a:solidFill>
            <a:srgbClr val="151E32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50292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2200" b="0">
                <a:solidFill>
                  <a:srgbClr val="818CF8"/>
                </a:solidFill>
                <a:latin typeface="Segoe UI"/>
              </a:rPr>
              <a:t>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54864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2400" b="1">
                <a:solidFill>
                  <a:srgbClr val="F1F5F9"/>
                </a:solidFill>
                <a:latin typeface="Segoe UI"/>
              </a:rPr>
              <a:t>EXERCÍCIOS &amp; PRÁTICA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11535" cy="1382610"/>
          </a:xfrm>
          <a:prstGeom prst="roundRect">
            <a:avLst>
              <a:gd name="adj" fmla="val 9000"/>
            </a:avLst>
          </a:prstGeom>
          <a:solidFill>
            <a:srgbClr val="151E32"/>
          </a:solidFill>
          <a:ln w="1270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1880025"/>
            <a:ext cx="457200" cy="457200"/>
          </a:xfrm>
          <a:prstGeom prst="ellipse">
            <a:avLst/>
          </a:prstGeom>
          <a:solidFill>
            <a:srgbClr val="222452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80025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818CF8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545336"/>
            <a:ext cx="9585655" cy="112657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Estudo de Caso 'Desapega Já': Abstração e especificação de um aplicativo móvel real de economia colaborativa para conectar compradores e vendedores locais.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46234"/>
            <a:ext cx="10911535" cy="1668052"/>
          </a:xfrm>
          <a:prstGeom prst="roundRect">
            <a:avLst>
              <a:gd name="adj" fmla="val 9000"/>
            </a:avLst>
          </a:prstGeom>
          <a:solidFill>
            <a:srgbClr val="151E32"/>
          </a:solidFill>
          <a:ln w="1270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3551660"/>
            <a:ext cx="457200" cy="457200"/>
          </a:xfrm>
          <a:prstGeom prst="ellipse">
            <a:avLst/>
          </a:prstGeom>
          <a:solidFill>
            <a:srgbClr val="222452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5516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818CF8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074250"/>
            <a:ext cx="9585655" cy="14120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Documentação de Casos de Uso: Elaboração de quadros descritivos detalhando Pré-requisitos, Fluxo Normal e Fluxo Alternativo para operações essenciais (Logar, Cadastrar, Alterar, Excluir).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760590"/>
            <a:ext cx="10911535" cy="1320169"/>
          </a:xfrm>
          <a:prstGeom prst="roundRect">
            <a:avLst>
              <a:gd name="adj" fmla="val 9000"/>
            </a:avLst>
          </a:prstGeom>
          <a:solidFill>
            <a:srgbClr val="151E32"/>
          </a:solidFill>
          <a:ln w="1270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5192075"/>
            <a:ext cx="457200" cy="457200"/>
          </a:xfrm>
          <a:prstGeom prst="ellipse">
            <a:avLst/>
          </a:prstGeom>
          <a:solidFill>
            <a:srgbClr val="222452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192075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818CF8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888606"/>
            <a:ext cx="9585655" cy="106413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Modelagem Prática no Astah UML: Criação visual de Diagramas de Classes e Diagramas de Casos de Uso utilizando licença acadêmica da ferramenta Astah.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6355080"/>
            <a:ext cx="10911535" cy="10972"/>
          </a:xfrm>
          <a:prstGeom prst="roundRect">
            <a:avLst>
              <a:gd name="adj" fmla="val 0"/>
            </a:avLst>
          </a:prstGeom>
          <a:solidFill>
            <a:srgbClr val="25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2823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B85"/>
                </a:solidFill>
                <a:latin typeface="Segoe UI"/>
              </a:rPr>
              <a:t>UniFEF  ·  Sistemas de Informação  ·  Engenharia de Software 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2815" y="642823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22000"/>
              </a:lnSpc>
            </a:pPr>
            <a:r>
              <a:rPr sz="1000" b="0">
                <a:solidFill>
                  <a:srgbClr val="5B6B85"/>
                </a:solidFill>
                <a:latin typeface="Segoe UI"/>
              </a:rPr>
              <a:t>04 /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59" y="384048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5400" b="1">
                <a:solidFill>
                  <a:srgbClr val="253352"/>
                </a:solidFill>
                <a:latin typeface="Segoe UI"/>
              </a:rPr>
              <a:t>04</a:t>
            </a:r>
          </a:p>
        </p:txBody>
      </p:sp>
      <p:sp>
        <p:nvSpPr>
          <p:cNvPr id="3" name="Oval 2"/>
          <p:cNvSpPr/>
          <p:nvPr/>
        </p:nvSpPr>
        <p:spPr>
          <a:xfrm>
            <a:off x="1600200" y="502920"/>
            <a:ext cx="566928" cy="566928"/>
          </a:xfrm>
          <a:prstGeom prst="ellipse">
            <a:avLst/>
          </a:prstGeom>
          <a:solidFill>
            <a:srgbClr val="151E32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50292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2200" b="0">
                <a:solidFill>
                  <a:srgbClr val="818CF8"/>
                </a:solidFill>
                <a:latin typeface="Segoe UI"/>
              </a:rPr>
              <a:t>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54864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2400" b="1">
                <a:solidFill>
                  <a:srgbClr val="F1F5F9"/>
                </a:solidFill>
                <a:latin typeface="Segoe UI"/>
              </a:rPr>
              <a:t>DICAS DE PROVA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11535" cy="1476632"/>
          </a:xfrm>
          <a:prstGeom prst="roundRect">
            <a:avLst>
              <a:gd name="adj" fmla="val 9000"/>
            </a:avLst>
          </a:prstGeom>
          <a:solidFill>
            <a:srgbClr val="151E32"/>
          </a:solidFill>
          <a:ln w="1270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1927036"/>
            <a:ext cx="457200" cy="457200"/>
          </a:xfrm>
          <a:prstGeom prst="ellipse">
            <a:avLst/>
          </a:prstGeom>
          <a:solidFill>
            <a:srgbClr val="222452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2703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818CF8"/>
                </a:solidFill>
                <a:latin typeface="Segoe UI"/>
              </a:rPr>
              <a:t>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545336"/>
            <a:ext cx="9585655" cy="1220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Atenção aos Fluxos Alternativos: Na descrição de Casos de Uso (como o de Login), lembre-se de mapear cenários de erro (ex: usuário não cadastrado ou campos vazios) e para onde o sistema deve retornar.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40256"/>
            <a:ext cx="10911535" cy="1498781"/>
          </a:xfrm>
          <a:prstGeom prst="roundRect">
            <a:avLst>
              <a:gd name="adj" fmla="val 9000"/>
            </a:avLst>
          </a:prstGeom>
          <a:solidFill>
            <a:srgbClr val="151E32"/>
          </a:solidFill>
          <a:ln w="1270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3561047"/>
            <a:ext cx="457200" cy="457200"/>
          </a:xfrm>
          <a:prstGeom prst="ellipse">
            <a:avLst/>
          </a:prstGeom>
          <a:solidFill>
            <a:srgbClr val="222452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561047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818CF8"/>
                </a:solidFill>
                <a:latin typeface="Segoe UI"/>
              </a:rPr>
              <a:t>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168272"/>
            <a:ext cx="9585655" cy="124274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Diferenciação de Atores e Classes: Compreenda bem os papéis dos atores primários (Pessoa Anunciante e Pessoa Cliente) e como eles se relacionam com as classes de dados (Anunciante, Interessado, Anuncio).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685342"/>
            <a:ext cx="10911535" cy="1395417"/>
          </a:xfrm>
          <a:prstGeom prst="roundRect">
            <a:avLst>
              <a:gd name="adj" fmla="val 9000"/>
            </a:avLst>
          </a:prstGeom>
          <a:solidFill>
            <a:srgbClr val="151E32"/>
          </a:solidFill>
          <a:ln w="1270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5154451"/>
            <a:ext cx="457200" cy="457200"/>
          </a:xfrm>
          <a:prstGeom prst="ellipse">
            <a:avLst/>
          </a:prstGeom>
          <a:solidFill>
            <a:srgbClr val="222452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154451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818CF8"/>
                </a:solidFill>
                <a:latin typeface="Segoe UI"/>
              </a:rPr>
              <a:t>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813358"/>
            <a:ext cx="9585655" cy="11393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Revisão pelos Formulários da AV1: Refaça as questões de revisão disponibilizadas pelo Prof. Marcelo Boer nos links do Google Forms para fixar os conceitos teóricos de processos de software.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6355080"/>
            <a:ext cx="10911535" cy="10972"/>
          </a:xfrm>
          <a:prstGeom prst="roundRect">
            <a:avLst>
              <a:gd name="adj" fmla="val 0"/>
            </a:avLst>
          </a:prstGeom>
          <a:solidFill>
            <a:srgbClr val="25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2823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B85"/>
                </a:solidFill>
                <a:latin typeface="Segoe UI"/>
              </a:rPr>
              <a:t>UniFEF  ·  Sistemas de Informação  ·  Engenharia de Software 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2815" y="642823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22000"/>
              </a:lnSpc>
            </a:pPr>
            <a:r>
              <a:rPr sz="1000" b="0">
                <a:solidFill>
                  <a:srgbClr val="5B6B85"/>
                </a:solidFill>
                <a:latin typeface="Segoe UI"/>
              </a:rPr>
              <a:t>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