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046720" y="-1828800"/>
            <a:ext cx="6400800" cy="6400800"/>
          </a:xfrm>
          <a:prstGeom prst="ellipse">
            <a:avLst/>
          </a:prstGeom>
          <a:solidFill>
            <a:srgbClr val="2DD4B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286000" y="3840480"/>
            <a:ext cx="5486400" cy="5486400"/>
          </a:xfrm>
          <a:prstGeom prst="ellipse">
            <a:avLst/>
          </a:prstGeom>
          <a:solidFill>
            <a:srgbClr val="818CF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777240"/>
            <a:ext cx="4160520" cy="457200"/>
          </a:xfrm>
          <a:prstGeom prst="roundRect">
            <a:avLst>
              <a:gd name="adj" fmla="val 50000"/>
            </a:avLst>
          </a:prstGeom>
          <a:solidFill>
            <a:srgbClr val="113A38"/>
          </a:solidFill>
          <a:ln w="1270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77724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2000"/>
              </a:lnSpc>
            </a:pPr>
            <a:r>
              <a:rPr sz="1250" b="1">
                <a:solidFill>
                  <a:srgbClr val="2DD4BF"/>
                </a:solidFill>
                <a:latin typeface="Segoe UI"/>
              </a:rPr>
              <a:t>🎓 SISTEMAS DE INFORMAÇÃO · UNIFEF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10881360" cy="210312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5000"/>
              </a:lnSpc>
            </a:pPr>
            <a:r>
              <a:rPr sz="4800" b="1">
                <a:solidFill>
                  <a:srgbClr val="F1F5F9"/>
                </a:solidFill>
                <a:latin typeface="Segoe UI"/>
              </a:rPr>
              <a:t>Banco de Dados II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160520"/>
            <a:ext cx="502920" cy="41148"/>
          </a:xfrm>
          <a:prstGeom prst="roundRect">
            <a:avLst>
              <a:gd name="adj" fmla="val 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34340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4A3B8"/>
                </a:solidFill>
                <a:latin typeface="Segoe UI"/>
              </a:rPr>
              <a:t>3º Semestre · Guia de Revisão e Síntese de Conteúdo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8006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B6B85"/>
                </a:solidFill>
                <a:latin typeface="Segoe UI"/>
              </a:rPr>
              <a:t>Docente responsável: Prof. Guilherme de Morais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6355080"/>
            <a:ext cx="10911535" cy="10972"/>
          </a:xfrm>
          <a:prstGeom prst="roundRect">
            <a:avLst>
              <a:gd name="adj" fmla="val 0"/>
            </a:avLst>
          </a:prstGeom>
          <a:solidFill>
            <a:srgbClr val="25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28232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B85"/>
                </a:solidFill>
                <a:latin typeface="Segoe UI"/>
              </a:rPr>
              <a:t>UniFEF  ·  Sistemas de Informação  ·  Banco de Dados II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22815" y="6428232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2000"/>
              </a:lnSpc>
            </a:pPr>
            <a:r>
              <a:rPr sz="1000" b="0">
                <a:solidFill>
                  <a:srgbClr val="5B6B85"/>
                </a:solidFill>
                <a:latin typeface="Segoe UI"/>
              </a:rPr>
              <a:t>01 / 05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59" y="384048"/>
            <a:ext cx="146304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</a:pPr>
            <a:r>
              <a:rPr sz="5400" b="1">
                <a:solidFill>
                  <a:srgbClr val="253352"/>
                </a:solidFill>
                <a:latin typeface="Segoe UI"/>
              </a:rPr>
              <a:t>01</a:t>
            </a:r>
          </a:p>
        </p:txBody>
      </p:sp>
      <p:sp>
        <p:nvSpPr>
          <p:cNvPr id="3" name="Oval 2"/>
          <p:cNvSpPr/>
          <p:nvPr/>
        </p:nvSpPr>
        <p:spPr>
          <a:xfrm>
            <a:off x="1600200" y="502920"/>
            <a:ext cx="566928" cy="566928"/>
          </a:xfrm>
          <a:prstGeom prst="ellipse">
            <a:avLst/>
          </a:prstGeom>
          <a:solidFill>
            <a:srgbClr val="151E32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00200" y="50292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2200" b="0">
                <a:solidFill>
                  <a:srgbClr val="2DD4BF"/>
                </a:solidFill>
                <a:latin typeface="Segoe UI"/>
              </a:rPr>
              <a:t>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54864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2000"/>
              </a:lnSpc>
            </a:pPr>
            <a:r>
              <a:rPr sz="2400" b="1">
                <a:solidFill>
                  <a:srgbClr val="F1F5F9"/>
                </a:solidFill>
                <a:latin typeface="Segoe UI"/>
              </a:rPr>
              <a:t>VISÃO GERAL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10911535" cy="4663440"/>
          </a:xfrm>
          <a:prstGeom prst="roundRect">
            <a:avLst>
              <a:gd name="adj" fmla="val 4500"/>
            </a:avLst>
          </a:prstGeom>
          <a:solidFill>
            <a:srgbClr val="151E32"/>
          </a:solidFill>
          <a:ln w="12700">
            <a:solidFill>
              <a:srgbClr val="25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19" y="1965960"/>
            <a:ext cx="9814255" cy="3566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900" b="0">
                <a:solidFill>
                  <a:srgbClr val="F1F5F9"/>
                </a:solidFill>
                <a:latin typeface="Segoe UI"/>
              </a:rPr>
              <a:t>Revisão abrangente de Banco de Dados II cobrindo modelagem relacional, comandos DDL/DML, consultas avançadas com junções (JOINs), funções de agregação, manipulação de datas e strings no PostgreSQL/SQL.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6355080"/>
            <a:ext cx="10911535" cy="10972"/>
          </a:xfrm>
          <a:prstGeom prst="roundRect">
            <a:avLst>
              <a:gd name="adj" fmla="val 0"/>
            </a:avLst>
          </a:prstGeom>
          <a:solidFill>
            <a:srgbClr val="25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28232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B85"/>
                </a:solidFill>
                <a:latin typeface="Segoe UI"/>
              </a:rPr>
              <a:t>UniFEF  ·  Sistemas de Informação  ·  Banco de Dados 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22815" y="6428232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2000"/>
              </a:lnSpc>
            </a:pPr>
            <a:r>
              <a:rPr sz="1000" b="0">
                <a:solidFill>
                  <a:srgbClr val="5B6B85"/>
                </a:solidFill>
                <a:latin typeface="Segoe UI"/>
              </a:rPr>
              <a:t>02 / 05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59" y="384048"/>
            <a:ext cx="146304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</a:pPr>
            <a:r>
              <a:rPr sz="5400" b="1">
                <a:solidFill>
                  <a:srgbClr val="253352"/>
                </a:solidFill>
                <a:latin typeface="Segoe UI"/>
              </a:rPr>
              <a:t>02</a:t>
            </a:r>
          </a:p>
        </p:txBody>
      </p:sp>
      <p:sp>
        <p:nvSpPr>
          <p:cNvPr id="3" name="Oval 2"/>
          <p:cNvSpPr/>
          <p:nvPr/>
        </p:nvSpPr>
        <p:spPr>
          <a:xfrm>
            <a:off x="1600200" y="502920"/>
            <a:ext cx="566928" cy="566928"/>
          </a:xfrm>
          <a:prstGeom prst="ellipse">
            <a:avLst/>
          </a:prstGeom>
          <a:solidFill>
            <a:srgbClr val="151E32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00200" y="50292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2200" b="0">
                <a:solidFill>
                  <a:srgbClr val="2DD4BF"/>
                </a:solidFill>
                <a:latin typeface="Segoe UI"/>
              </a:rPr>
              <a:t>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54864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2000"/>
              </a:lnSpc>
            </a:pPr>
            <a:r>
              <a:rPr sz="2400" b="1">
                <a:solidFill>
                  <a:srgbClr val="F1F5F9"/>
                </a:solidFill>
                <a:latin typeface="Segoe UI"/>
              </a:rPr>
              <a:t>CONCEITOS FUNDAMENTAIS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10911535" cy="807398"/>
          </a:xfrm>
          <a:prstGeom prst="roundRect">
            <a:avLst>
              <a:gd name="adj" fmla="val 9000"/>
            </a:avLst>
          </a:prstGeom>
          <a:solidFill>
            <a:srgbClr val="151E32"/>
          </a:solidFill>
          <a:ln w="12700">
            <a:solidFill>
              <a:srgbClr val="25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96112" y="1592419"/>
            <a:ext cx="457200" cy="457200"/>
          </a:xfrm>
          <a:prstGeom prst="ellipse">
            <a:avLst/>
          </a:prstGeom>
          <a:solidFill>
            <a:srgbClr val="113A38"/>
          </a:solidFill>
          <a:ln w="1270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59241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2DD4BF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545336"/>
            <a:ext cx="9585655" cy="55136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F1F5F9"/>
                </a:solidFill>
                <a:latin typeface="Segoe UI"/>
              </a:rPr>
              <a:t>DDL e Integridade Referencial: Criação de tabelas, chaves primárias (PRIMARY KEY) e estrangeiras (FOREIGN KEY).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71022"/>
            <a:ext cx="10911535" cy="865589"/>
          </a:xfrm>
          <a:prstGeom prst="roundRect">
            <a:avLst>
              <a:gd name="adj" fmla="val 9000"/>
            </a:avLst>
          </a:prstGeom>
          <a:solidFill>
            <a:srgbClr val="151E32"/>
          </a:solidFill>
          <a:ln w="12700">
            <a:solidFill>
              <a:srgbClr val="25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96112" y="2575217"/>
            <a:ext cx="457200" cy="457200"/>
          </a:xfrm>
          <a:prstGeom prst="ellipse">
            <a:avLst/>
          </a:prstGeom>
          <a:solidFill>
            <a:srgbClr val="113A38"/>
          </a:solidFill>
          <a:ln w="1270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2575217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2DD4BF"/>
                </a:solidFill>
                <a:latin typeface="Segoe U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499038"/>
            <a:ext cx="9585655" cy="60955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F1F5F9"/>
                </a:solidFill>
                <a:latin typeface="Segoe UI"/>
              </a:rPr>
              <a:t>DML e Consultas Básicas: Uso de SELECT, WHERE, ORDER BY, DISTINCT, operadores relacionais, lógicos (AND, OR) e BETWEEN.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382916"/>
            <a:ext cx="10911535" cy="726179"/>
          </a:xfrm>
          <a:prstGeom prst="roundRect">
            <a:avLst>
              <a:gd name="adj" fmla="val 9000"/>
            </a:avLst>
          </a:prstGeom>
          <a:solidFill>
            <a:srgbClr val="151E32"/>
          </a:solidFill>
          <a:ln w="12700">
            <a:solidFill>
              <a:srgbClr val="25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96112" y="3517406"/>
            <a:ext cx="457200" cy="457200"/>
          </a:xfrm>
          <a:prstGeom prst="ellipse">
            <a:avLst/>
          </a:prstGeom>
          <a:solidFill>
            <a:srgbClr val="113A38"/>
          </a:solidFill>
          <a:ln w="1270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351740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2DD4BF"/>
                </a:solidFill>
                <a:latin typeface="Segoe U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510932"/>
            <a:ext cx="9585655" cy="47014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F1F5F9"/>
                </a:solidFill>
                <a:latin typeface="Segoe UI"/>
              </a:rPr>
              <a:t>Consultas Avançadas: Filtragem com LIKE/ILIKE, junções entre tabelas (JOINs) e comandos complexos.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255400"/>
            <a:ext cx="10911535" cy="726179"/>
          </a:xfrm>
          <a:prstGeom prst="roundRect">
            <a:avLst>
              <a:gd name="adj" fmla="val 9000"/>
            </a:avLst>
          </a:prstGeom>
          <a:solidFill>
            <a:srgbClr val="151E32"/>
          </a:solidFill>
          <a:ln w="12700">
            <a:solidFill>
              <a:srgbClr val="25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96112" y="4389890"/>
            <a:ext cx="457200" cy="457200"/>
          </a:xfrm>
          <a:prstGeom prst="ellipse">
            <a:avLst/>
          </a:prstGeom>
          <a:solidFill>
            <a:srgbClr val="113A38"/>
          </a:solidFill>
          <a:ln w="1270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438989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2DD4BF"/>
                </a:solidFill>
                <a:latin typeface="Segoe U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383416"/>
            <a:ext cx="9585655" cy="47014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F1F5F9"/>
                </a:solidFill>
                <a:latin typeface="Segoe UI"/>
              </a:rPr>
              <a:t>Funções Agregadas e Agrupamento: Utilização de COUNT, SUM, AVG, MAX, MIN e GROUP BY.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127883"/>
            <a:ext cx="10911535" cy="952876"/>
          </a:xfrm>
          <a:prstGeom prst="roundRect">
            <a:avLst>
              <a:gd name="adj" fmla="val 9000"/>
            </a:avLst>
          </a:prstGeom>
          <a:solidFill>
            <a:srgbClr val="151E32"/>
          </a:solidFill>
          <a:ln w="12700">
            <a:solidFill>
              <a:srgbClr val="25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96112" y="5375721"/>
            <a:ext cx="457200" cy="457200"/>
          </a:xfrm>
          <a:prstGeom prst="ellipse">
            <a:avLst/>
          </a:prstGeom>
          <a:solidFill>
            <a:srgbClr val="113A38"/>
          </a:solidFill>
          <a:ln w="1270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5375721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2DD4BF"/>
                </a:solidFill>
                <a:latin typeface="Segoe U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5255899"/>
            <a:ext cx="9585655" cy="696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F1F5F9"/>
                </a:solidFill>
                <a:latin typeface="Segoe UI"/>
              </a:rPr>
              <a:t>Funções de Data, Hora e String: Manipulação com NOW(), DATE(), AGE(), EXTRACT(), CONCAT (||), UPPER(), LOWER(), LENGTH() e ASCII().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6355080"/>
            <a:ext cx="10911535" cy="10972"/>
          </a:xfrm>
          <a:prstGeom prst="roundRect">
            <a:avLst>
              <a:gd name="adj" fmla="val 0"/>
            </a:avLst>
          </a:prstGeom>
          <a:solidFill>
            <a:srgbClr val="25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28232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B85"/>
                </a:solidFill>
                <a:latin typeface="Segoe UI"/>
              </a:rPr>
              <a:t>UniFEF  ·  Sistemas de Informação  ·  Banco de Dados II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22815" y="6428232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2000"/>
              </a:lnSpc>
            </a:pPr>
            <a:r>
              <a:rPr sz="1000" b="0">
                <a:solidFill>
                  <a:srgbClr val="5B6B85"/>
                </a:solidFill>
                <a:latin typeface="Segoe UI"/>
              </a:rPr>
              <a:t>03 / 05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59" y="384048"/>
            <a:ext cx="146304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</a:pPr>
            <a:r>
              <a:rPr sz="5400" b="1">
                <a:solidFill>
                  <a:srgbClr val="253352"/>
                </a:solidFill>
                <a:latin typeface="Segoe UI"/>
              </a:rPr>
              <a:t>03</a:t>
            </a:r>
          </a:p>
        </p:txBody>
      </p:sp>
      <p:sp>
        <p:nvSpPr>
          <p:cNvPr id="3" name="Oval 2"/>
          <p:cNvSpPr/>
          <p:nvPr/>
        </p:nvSpPr>
        <p:spPr>
          <a:xfrm>
            <a:off x="1600200" y="502920"/>
            <a:ext cx="566928" cy="566928"/>
          </a:xfrm>
          <a:prstGeom prst="ellipse">
            <a:avLst/>
          </a:prstGeom>
          <a:solidFill>
            <a:srgbClr val="151E32"/>
          </a:solidFill>
          <a:ln w="15875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00200" y="50292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2200" b="0">
                <a:solidFill>
                  <a:srgbClr val="818CF8"/>
                </a:solidFill>
                <a:latin typeface="Segoe UI"/>
              </a:rPr>
              <a:t>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54864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2000"/>
              </a:lnSpc>
            </a:pPr>
            <a:r>
              <a:rPr sz="2400" b="1">
                <a:solidFill>
                  <a:srgbClr val="F1F5F9"/>
                </a:solidFill>
                <a:latin typeface="Segoe UI"/>
              </a:rPr>
              <a:t>EXERCÍCIOS &amp; PRÁTICA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10911535" cy="968105"/>
          </a:xfrm>
          <a:prstGeom prst="roundRect">
            <a:avLst>
              <a:gd name="adj" fmla="val 9000"/>
            </a:avLst>
          </a:prstGeom>
          <a:solidFill>
            <a:srgbClr val="151E32"/>
          </a:solidFill>
          <a:ln w="12700">
            <a:solidFill>
              <a:srgbClr val="25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96112" y="1672772"/>
            <a:ext cx="457200" cy="457200"/>
          </a:xfrm>
          <a:prstGeom prst="ellipse">
            <a:avLst/>
          </a:prstGeom>
          <a:solidFill>
            <a:srgbClr val="222452"/>
          </a:solidFill>
          <a:ln w="12700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67277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818CF8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545336"/>
            <a:ext cx="9585655" cy="7120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F1F5F9"/>
                </a:solidFill>
                <a:latin typeface="Segoe UI"/>
              </a:rPr>
              <a:t>Criação de tabelas relacionalmente integradas (ex: tabelas Clientes, Veículos e Pedidos com FK).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531729"/>
            <a:ext cx="10911535" cy="816838"/>
          </a:xfrm>
          <a:prstGeom prst="roundRect">
            <a:avLst>
              <a:gd name="adj" fmla="val 9000"/>
            </a:avLst>
          </a:prstGeom>
          <a:solidFill>
            <a:srgbClr val="151E32"/>
          </a:solidFill>
          <a:ln w="12700">
            <a:solidFill>
              <a:srgbClr val="25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96112" y="2711548"/>
            <a:ext cx="457200" cy="457200"/>
          </a:xfrm>
          <a:prstGeom prst="ellipse">
            <a:avLst/>
          </a:prstGeom>
          <a:solidFill>
            <a:srgbClr val="222452"/>
          </a:solidFill>
          <a:ln w="12700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271154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818CF8"/>
                </a:solidFill>
                <a:latin typeface="Segoe U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659745"/>
            <a:ext cx="9585655" cy="56080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F1F5F9"/>
                </a:solidFill>
                <a:latin typeface="Segoe UI"/>
              </a:rPr>
              <a:t>Consultas com filtros múltiplos (WHERE, AND, OR, BETWEEN) e ordenação (ORDER BY).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494871"/>
            <a:ext cx="10911535" cy="723094"/>
          </a:xfrm>
          <a:prstGeom prst="roundRect">
            <a:avLst>
              <a:gd name="adj" fmla="val 9000"/>
            </a:avLst>
          </a:prstGeom>
          <a:solidFill>
            <a:srgbClr val="151E32"/>
          </a:solidFill>
          <a:ln w="12700">
            <a:solidFill>
              <a:srgbClr val="25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96112" y="3627818"/>
            <a:ext cx="457200" cy="457200"/>
          </a:xfrm>
          <a:prstGeom prst="ellipse">
            <a:avLst/>
          </a:prstGeom>
          <a:solidFill>
            <a:srgbClr val="222452"/>
          </a:solidFill>
          <a:ln w="12700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362781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818CF8"/>
                </a:solidFill>
                <a:latin typeface="Segoe U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622887"/>
            <a:ext cx="9585655" cy="46706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F1F5F9"/>
                </a:solidFill>
                <a:latin typeface="Segoe UI"/>
              </a:rPr>
              <a:t>Uso de padrões de texto com LIKE ('A%') e ILIKE.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364269"/>
            <a:ext cx="10911535" cy="723094"/>
          </a:xfrm>
          <a:prstGeom prst="roundRect">
            <a:avLst>
              <a:gd name="adj" fmla="val 9000"/>
            </a:avLst>
          </a:prstGeom>
          <a:solidFill>
            <a:srgbClr val="151E32"/>
          </a:solidFill>
          <a:ln w="12700">
            <a:solidFill>
              <a:srgbClr val="25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96112" y="4497216"/>
            <a:ext cx="457200" cy="457200"/>
          </a:xfrm>
          <a:prstGeom prst="ellipse">
            <a:avLst/>
          </a:prstGeom>
          <a:solidFill>
            <a:srgbClr val="222452"/>
          </a:solidFill>
          <a:ln w="12700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449721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818CF8"/>
                </a:solidFill>
                <a:latin typeface="Segoe U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492285"/>
            <a:ext cx="9585655" cy="46706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F1F5F9"/>
                </a:solidFill>
                <a:latin typeface="Segoe UI"/>
              </a:rPr>
              <a:t>Agregação de dados e cálculo de totais, médias e contagens por grupo.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233668"/>
            <a:ext cx="10911535" cy="847091"/>
          </a:xfrm>
          <a:prstGeom prst="roundRect">
            <a:avLst>
              <a:gd name="adj" fmla="val 9000"/>
            </a:avLst>
          </a:prstGeom>
          <a:solidFill>
            <a:srgbClr val="151E32"/>
          </a:solidFill>
          <a:ln w="12700">
            <a:solidFill>
              <a:srgbClr val="25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96112" y="5428614"/>
            <a:ext cx="457200" cy="457200"/>
          </a:xfrm>
          <a:prstGeom prst="ellipse">
            <a:avLst/>
          </a:prstGeom>
          <a:solidFill>
            <a:srgbClr val="222452"/>
          </a:solidFill>
          <a:ln w="12700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542861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818CF8"/>
                </a:solidFill>
                <a:latin typeface="Segoe U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5361684"/>
            <a:ext cx="9585655" cy="59105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F1F5F9"/>
                </a:solidFill>
                <a:latin typeface="Segoe UI"/>
              </a:rPr>
              <a:t>Formatação de strings e cálculos temporais avançados (ex: cálculo de idade com AGE).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6355080"/>
            <a:ext cx="10911535" cy="10972"/>
          </a:xfrm>
          <a:prstGeom prst="roundRect">
            <a:avLst>
              <a:gd name="adj" fmla="val 0"/>
            </a:avLst>
          </a:prstGeom>
          <a:solidFill>
            <a:srgbClr val="25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28232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B85"/>
                </a:solidFill>
                <a:latin typeface="Segoe UI"/>
              </a:rPr>
              <a:t>UniFEF  ·  Sistemas de Informação  ·  Banco de Dados II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22815" y="6428232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2000"/>
              </a:lnSpc>
            </a:pPr>
            <a:r>
              <a:rPr sz="1000" b="0">
                <a:solidFill>
                  <a:srgbClr val="5B6B85"/>
                </a:solidFill>
                <a:latin typeface="Segoe UI"/>
              </a:rPr>
              <a:t>04 / 05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59" y="384048"/>
            <a:ext cx="146304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</a:pPr>
            <a:r>
              <a:rPr sz="5400" b="1">
                <a:solidFill>
                  <a:srgbClr val="253352"/>
                </a:solidFill>
                <a:latin typeface="Segoe UI"/>
              </a:rPr>
              <a:t>04</a:t>
            </a:r>
          </a:p>
        </p:txBody>
      </p:sp>
      <p:sp>
        <p:nvSpPr>
          <p:cNvPr id="3" name="Oval 2"/>
          <p:cNvSpPr/>
          <p:nvPr/>
        </p:nvSpPr>
        <p:spPr>
          <a:xfrm>
            <a:off x="1600200" y="502920"/>
            <a:ext cx="566928" cy="566928"/>
          </a:xfrm>
          <a:prstGeom prst="ellipse">
            <a:avLst/>
          </a:prstGeom>
          <a:solidFill>
            <a:srgbClr val="151E32"/>
          </a:solidFill>
          <a:ln w="15875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00200" y="50292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2200" b="0">
                <a:solidFill>
                  <a:srgbClr val="818CF8"/>
                </a:solidFill>
                <a:latin typeface="Segoe UI"/>
              </a:rPr>
              <a:t>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54864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2000"/>
              </a:lnSpc>
            </a:pPr>
            <a:r>
              <a:rPr sz="2400" b="1">
                <a:solidFill>
                  <a:srgbClr val="F1F5F9"/>
                </a:solidFill>
                <a:latin typeface="Segoe UI"/>
              </a:rPr>
              <a:t>DICAS DE PROVA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10911535" cy="729158"/>
          </a:xfrm>
          <a:prstGeom prst="roundRect">
            <a:avLst>
              <a:gd name="adj" fmla="val 9000"/>
            </a:avLst>
          </a:prstGeom>
          <a:solidFill>
            <a:srgbClr val="151E32"/>
          </a:solidFill>
          <a:ln w="12700">
            <a:solidFill>
              <a:srgbClr val="25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96112" y="1553299"/>
            <a:ext cx="457200" cy="457200"/>
          </a:xfrm>
          <a:prstGeom prst="ellipse">
            <a:avLst/>
          </a:prstGeom>
          <a:solidFill>
            <a:srgbClr val="222452"/>
          </a:solidFill>
          <a:ln w="12700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55329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818CF8"/>
                </a:solidFill>
                <a:latin typeface="Segoe UI"/>
              </a:rPr>
              <a:t>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545336"/>
            <a:ext cx="9585655" cy="47312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F1F5F9"/>
                </a:solidFill>
                <a:latin typeface="Segoe UI"/>
              </a:rPr>
              <a:t>Atenção à ordem das cláusulas no SELECT: SELECT -&gt; FROM -&gt; WHERE -&gt; GROUP BY -&gt; ORDER BY.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292782"/>
            <a:ext cx="10911535" cy="769146"/>
          </a:xfrm>
          <a:prstGeom prst="roundRect">
            <a:avLst>
              <a:gd name="adj" fmla="val 9000"/>
            </a:avLst>
          </a:prstGeom>
          <a:solidFill>
            <a:srgbClr val="151E32"/>
          </a:solidFill>
          <a:ln w="12700">
            <a:solidFill>
              <a:srgbClr val="25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96112" y="2448756"/>
            <a:ext cx="457200" cy="457200"/>
          </a:xfrm>
          <a:prstGeom prst="ellipse">
            <a:avLst/>
          </a:prstGeom>
          <a:solidFill>
            <a:srgbClr val="222452"/>
          </a:solidFill>
          <a:ln w="12700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244875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818CF8"/>
                </a:solidFill>
                <a:latin typeface="Segoe UI"/>
              </a:rPr>
              <a:t>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420798"/>
            <a:ext cx="9585655" cy="51311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F1F5F9"/>
                </a:solidFill>
                <a:latin typeface="Segoe UI"/>
              </a:rPr>
              <a:t>Funções agregadas (como SUM, AVG, COUNT) não podem ser utilizadas diretamente na cláusula WHERE.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208233"/>
            <a:ext cx="10911535" cy="953421"/>
          </a:xfrm>
          <a:prstGeom prst="roundRect">
            <a:avLst>
              <a:gd name="adj" fmla="val 9000"/>
            </a:avLst>
          </a:prstGeom>
          <a:solidFill>
            <a:srgbClr val="151E32"/>
          </a:solidFill>
          <a:ln w="12700">
            <a:solidFill>
              <a:srgbClr val="25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96112" y="3456344"/>
            <a:ext cx="457200" cy="457200"/>
          </a:xfrm>
          <a:prstGeom prst="ellipse">
            <a:avLst/>
          </a:prstGeom>
          <a:solidFill>
            <a:srgbClr val="222452"/>
          </a:solidFill>
          <a:ln w="12700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345634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818CF8"/>
                </a:solidFill>
                <a:latin typeface="Segoe UI"/>
              </a:rPr>
              <a:t>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336249"/>
            <a:ext cx="9585655" cy="69738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F1F5F9"/>
                </a:solidFill>
                <a:latin typeface="Segoe UI"/>
              </a:rPr>
              <a:t>Cuidado com chaves estrangeiras (FK): a tabela referenciada deve existir e possuir a chave primária criada previamente.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307959"/>
            <a:ext cx="10911535" cy="897337"/>
          </a:xfrm>
          <a:prstGeom prst="roundRect">
            <a:avLst>
              <a:gd name="adj" fmla="val 9000"/>
            </a:avLst>
          </a:prstGeom>
          <a:solidFill>
            <a:srgbClr val="151E32"/>
          </a:solidFill>
          <a:ln w="12700">
            <a:solidFill>
              <a:srgbClr val="25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96112" y="4528028"/>
            <a:ext cx="457200" cy="457200"/>
          </a:xfrm>
          <a:prstGeom prst="ellipse">
            <a:avLst/>
          </a:prstGeom>
          <a:solidFill>
            <a:srgbClr val="222452"/>
          </a:solidFill>
          <a:ln w="12700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452802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818CF8"/>
                </a:solidFill>
                <a:latin typeface="Segoe UI"/>
              </a:rPr>
              <a:t>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435975"/>
            <a:ext cx="9585655" cy="64130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F1F5F9"/>
                </a:solidFill>
                <a:latin typeface="Segoe UI"/>
              </a:rPr>
              <a:t>Lembre-se de que o operador LIKE é case-sensitive (diferencia maiúsculas de minúsculas), enquanto o ILIKE não é.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351601"/>
            <a:ext cx="10911535" cy="729158"/>
          </a:xfrm>
          <a:prstGeom prst="roundRect">
            <a:avLst>
              <a:gd name="adj" fmla="val 9000"/>
            </a:avLst>
          </a:prstGeom>
          <a:solidFill>
            <a:srgbClr val="151E32"/>
          </a:solidFill>
          <a:ln w="12700">
            <a:solidFill>
              <a:srgbClr val="25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96112" y="5487580"/>
            <a:ext cx="457200" cy="457200"/>
          </a:xfrm>
          <a:prstGeom prst="ellipse">
            <a:avLst/>
          </a:prstGeom>
          <a:solidFill>
            <a:srgbClr val="222452"/>
          </a:solidFill>
          <a:ln w="12700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54875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818CF8"/>
                </a:solidFill>
                <a:latin typeface="Segoe UI"/>
              </a:rPr>
              <a:t>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5479617"/>
            <a:ext cx="9585655" cy="47312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F1F5F9"/>
                </a:solidFill>
                <a:latin typeface="Segoe UI"/>
              </a:rPr>
              <a:t>Pratique a concatenação de strings usando o operador padrão do PostgreSQL (||).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6355080"/>
            <a:ext cx="10911535" cy="10972"/>
          </a:xfrm>
          <a:prstGeom prst="roundRect">
            <a:avLst>
              <a:gd name="adj" fmla="val 0"/>
            </a:avLst>
          </a:prstGeom>
          <a:solidFill>
            <a:srgbClr val="25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28232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B85"/>
                </a:solidFill>
                <a:latin typeface="Segoe UI"/>
              </a:rPr>
              <a:t>UniFEF  ·  Sistemas de Informação  ·  Banco de Dados II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22815" y="6428232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2000"/>
              </a:lnSpc>
            </a:pPr>
            <a:r>
              <a:rPr sz="1000" b="0">
                <a:solidFill>
                  <a:srgbClr val="5B6B85"/>
                </a:solidFill>
                <a:latin typeface="Segoe UI"/>
              </a:rPr>
              <a:t>05 / 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