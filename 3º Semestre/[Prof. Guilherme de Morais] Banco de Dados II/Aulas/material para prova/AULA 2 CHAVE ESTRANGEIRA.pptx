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CHAVE ESTRANGEIRA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GUILHERME DE MORAIS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683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5499" y="1881052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chave estrangeira é um campo ou conjunto de campos em uma tabela que identifica uma linha em outra tabela, criando um relacionamento entre as duas tabelas. </a:t>
            </a:r>
            <a:endParaRPr lang="pt-BR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Assim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uma chave estrangeira é uma coluna em uma tabela que faz referência à chave primária de outra tabela.</a:t>
            </a:r>
          </a:p>
        </p:txBody>
      </p:sp>
    </p:spTree>
    <p:extLst>
      <p:ext uri="{BB962C8B-B14F-4D97-AF65-F5344CB8AC3E}">
        <p14:creationId xmlns:p14="http://schemas.microsoft.com/office/powerpoint/2010/main" val="293463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Espaço Reservado para Conteúdo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911673"/>
              </p:ext>
            </p:extLst>
          </p:nvPr>
        </p:nvGraphicFramePr>
        <p:xfrm>
          <a:off x="945495" y="3363683"/>
          <a:ext cx="448865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235">
                  <a:extLst>
                    <a:ext uri="{9D8B030D-6E8A-4147-A177-3AD203B41FA5}">
                      <a16:colId xmlns:a16="http://schemas.microsoft.com/office/drawing/2014/main" xmlns="" val="1811783937"/>
                    </a:ext>
                  </a:extLst>
                </a:gridCol>
                <a:gridCol w="2096581">
                  <a:extLst>
                    <a:ext uri="{9D8B030D-6E8A-4147-A177-3AD203B41FA5}">
                      <a16:colId xmlns:a16="http://schemas.microsoft.com/office/drawing/2014/main" xmlns="" val="1064817612"/>
                    </a:ext>
                  </a:extLst>
                </a:gridCol>
                <a:gridCol w="1752838">
                  <a:extLst>
                    <a:ext uri="{9D8B030D-6E8A-4147-A177-3AD203B41FA5}">
                      <a16:colId xmlns:a16="http://schemas.microsoft.com/office/drawing/2014/main" xmlns="" val="20053476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FUNCIONARIO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023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pk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CPF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NOME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CIDADE</a:t>
                      </a:r>
                      <a:r>
                        <a:rPr lang="pt-BR" baseline="0" dirty="0" smtClean="0"/>
                        <a:t> 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baseline="0" dirty="0" smtClean="0"/>
                        <a:t> 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330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fk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COD_DEP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44690645"/>
                  </a:ext>
                </a:extLst>
              </a:tr>
            </a:tbl>
          </a:graphicData>
        </a:graphic>
      </p:graphicFrame>
      <p:grpSp>
        <p:nvGrpSpPr>
          <p:cNvPr id="15" name="Agrupar 14"/>
          <p:cNvGrpSpPr/>
          <p:nvPr/>
        </p:nvGrpSpPr>
        <p:grpSpPr>
          <a:xfrm>
            <a:off x="2360638" y="2121318"/>
            <a:ext cx="8190412" cy="987642"/>
            <a:chOff x="2447108" y="2948632"/>
            <a:chExt cx="8190412" cy="987642"/>
          </a:xfrm>
        </p:grpSpPr>
        <p:sp>
          <p:nvSpPr>
            <p:cNvPr id="5" name="Retângulo 4"/>
            <p:cNvSpPr/>
            <p:nvPr/>
          </p:nvSpPr>
          <p:spPr>
            <a:xfrm>
              <a:off x="2447108" y="2995748"/>
              <a:ext cx="2055223" cy="9405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FUNCIONARIO</a:t>
              </a:r>
              <a:r>
                <a:rPr lang="pt-BR" dirty="0" smtClean="0"/>
                <a:t> </a:t>
              </a:r>
              <a:endParaRPr lang="pt-BR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582297" y="2995748"/>
              <a:ext cx="2055223" cy="9405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DEPARTAMENTO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7" name="Fluxograma: Decisão 6"/>
            <p:cNvSpPr/>
            <p:nvPr/>
          </p:nvSpPr>
          <p:spPr>
            <a:xfrm>
              <a:off x="5676427" y="2995748"/>
              <a:ext cx="1924594" cy="679268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TRABALHA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Conector reto 8"/>
            <p:cNvCxnSpPr>
              <a:endCxn id="7" idx="1"/>
            </p:cNvCxnSpPr>
            <p:nvPr/>
          </p:nvCxnSpPr>
          <p:spPr>
            <a:xfrm flipV="1">
              <a:off x="4502331" y="3335382"/>
              <a:ext cx="1174096" cy="1306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>
              <a:stCxn id="7" idx="3"/>
            </p:cNvCxnSpPr>
            <p:nvPr/>
          </p:nvCxnSpPr>
          <p:spPr>
            <a:xfrm>
              <a:off x="7601021" y="3335382"/>
              <a:ext cx="9812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/>
            <p:cNvSpPr txBox="1"/>
            <p:nvPr/>
          </p:nvSpPr>
          <p:spPr>
            <a:xfrm>
              <a:off x="7656230" y="2948632"/>
              <a:ext cx="87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1..1</a:t>
              </a:r>
              <a:endParaRPr lang="pt-BR" dirty="0"/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4506685" y="3133298"/>
              <a:ext cx="87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1..N</a:t>
              </a:r>
              <a:endParaRPr lang="pt-BR" dirty="0"/>
            </a:p>
          </p:txBody>
        </p:sp>
      </p:grpSp>
      <p:graphicFrame>
        <p:nvGraphicFramePr>
          <p:cNvPr id="19" name="Espaço Reservado para Conteúdo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752816"/>
              </p:ext>
            </p:extLst>
          </p:nvPr>
        </p:nvGraphicFramePr>
        <p:xfrm>
          <a:off x="8221506" y="3450771"/>
          <a:ext cx="372665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718">
                  <a:extLst>
                    <a:ext uri="{9D8B030D-6E8A-4147-A177-3AD203B41FA5}">
                      <a16:colId xmlns:a16="http://schemas.microsoft.com/office/drawing/2014/main" xmlns="" val="1811783937"/>
                    </a:ext>
                  </a:extLst>
                </a:gridCol>
                <a:gridCol w="1697516">
                  <a:extLst>
                    <a:ext uri="{9D8B030D-6E8A-4147-A177-3AD203B41FA5}">
                      <a16:colId xmlns:a16="http://schemas.microsoft.com/office/drawing/2014/main" xmlns="" val="1064817612"/>
                    </a:ext>
                  </a:extLst>
                </a:gridCol>
                <a:gridCol w="1498419">
                  <a:extLst>
                    <a:ext uri="{9D8B030D-6E8A-4147-A177-3AD203B41FA5}">
                      <a16:colId xmlns:a16="http://schemas.microsoft.com/office/drawing/2014/main" xmlns="" val="20053476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DEPARTAMENTO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023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pk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COD_DEP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NOME_DEP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 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4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88869" y="1132114"/>
            <a:ext cx="10212030" cy="452656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DEPARTAMENTO (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COD_DEP INTEGER NOT NULL,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VARCHAR(50),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</a:t>
            </a:r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PK_COD_DEP 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(COD_DEP</a:t>
            </a:r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 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 INTEGER NOT NULL,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VARCHAR (50), 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VARCHAR (50),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COD_DEP INTEGER,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PK_CPF PRIMARY KEY (CPF),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FK_COD_DEP FOREIGN KEY (COD_DEP) REFERENCES DEPARTAMENTO (COD_DEP));</a:t>
            </a:r>
          </a:p>
        </p:txBody>
      </p:sp>
    </p:spTree>
    <p:extLst>
      <p:ext uri="{BB962C8B-B14F-4D97-AF65-F5344CB8AC3E}">
        <p14:creationId xmlns:p14="http://schemas.microsoft.com/office/powerpoint/2010/main" val="107261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88869" y="1132114"/>
            <a:ext cx="10212030" cy="4526560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Como Adicionar uma Chave Estrangeira a uma tabela já </a:t>
            </a:r>
            <a:r>
              <a:rPr lang="pt-BR" b="1" dirty="0" smtClean="0"/>
              <a:t>existente</a:t>
            </a:r>
          </a:p>
          <a:p>
            <a:pPr algn="just"/>
            <a:endParaRPr lang="pt-BR" b="1" dirty="0"/>
          </a:p>
          <a:p>
            <a:pPr algn="just"/>
            <a:r>
              <a:rPr lang="pt-BR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Podemos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também adicionar uma restrição de chave estrangeira a uma tabela já existente, usando a declaração ALTER TABLE, como segue:</a:t>
            </a:r>
          </a:p>
          <a:p>
            <a:pPr algn="just"/>
            <a:endParaRPr lang="pt-B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 TABLE </a:t>
            </a:r>
            <a:r>
              <a:rPr lang="pt-BR" sz="2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tabela_filha</a:t>
            </a:r>
            <a:r>
              <a:rPr lang="pt-B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 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nome_constraint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FOREIGN KEY (coluna) REFERENCES tabela-pai(coluna);</a:t>
            </a:r>
          </a:p>
        </p:txBody>
      </p:sp>
    </p:spTree>
    <p:extLst>
      <p:ext uri="{BB962C8B-B14F-4D97-AF65-F5344CB8AC3E}">
        <p14:creationId xmlns:p14="http://schemas.microsoft.com/office/powerpoint/2010/main" val="283945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Espaço Reservado para Conteúdo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046986"/>
              </p:ext>
            </p:extLst>
          </p:nvPr>
        </p:nvGraphicFramePr>
        <p:xfrm>
          <a:off x="945495" y="3363683"/>
          <a:ext cx="448865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235">
                  <a:extLst>
                    <a:ext uri="{9D8B030D-6E8A-4147-A177-3AD203B41FA5}">
                      <a16:colId xmlns:a16="http://schemas.microsoft.com/office/drawing/2014/main" xmlns="" val="1811783937"/>
                    </a:ext>
                  </a:extLst>
                </a:gridCol>
                <a:gridCol w="2096581">
                  <a:extLst>
                    <a:ext uri="{9D8B030D-6E8A-4147-A177-3AD203B41FA5}">
                      <a16:colId xmlns:a16="http://schemas.microsoft.com/office/drawing/2014/main" xmlns="" val="1064817612"/>
                    </a:ext>
                  </a:extLst>
                </a:gridCol>
                <a:gridCol w="1752838">
                  <a:extLst>
                    <a:ext uri="{9D8B030D-6E8A-4147-A177-3AD203B41FA5}">
                      <a16:colId xmlns:a16="http://schemas.microsoft.com/office/drawing/2014/main" xmlns="" val="20053476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pt-BR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PRODUTO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023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pk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COD_PRODUTO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NOME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DESCRIÇÃO</a:t>
                      </a:r>
                      <a:r>
                        <a:rPr lang="pt-BR" baseline="0" dirty="0" smtClean="0"/>
                        <a:t> 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baseline="0" dirty="0" smtClean="0"/>
                        <a:t> 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330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fk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COD_LOTE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44690645"/>
                  </a:ext>
                </a:extLst>
              </a:tr>
            </a:tbl>
          </a:graphicData>
        </a:graphic>
      </p:graphicFrame>
      <p:grpSp>
        <p:nvGrpSpPr>
          <p:cNvPr id="15" name="Agrupar 14"/>
          <p:cNvGrpSpPr/>
          <p:nvPr/>
        </p:nvGrpSpPr>
        <p:grpSpPr>
          <a:xfrm>
            <a:off x="2360638" y="2121318"/>
            <a:ext cx="8190412" cy="987642"/>
            <a:chOff x="2447108" y="2948632"/>
            <a:chExt cx="8190412" cy="987642"/>
          </a:xfrm>
        </p:grpSpPr>
        <p:sp>
          <p:nvSpPr>
            <p:cNvPr id="5" name="Retângulo 4"/>
            <p:cNvSpPr/>
            <p:nvPr/>
          </p:nvSpPr>
          <p:spPr>
            <a:xfrm>
              <a:off x="2447108" y="2995748"/>
              <a:ext cx="2055223" cy="9405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PRODUTO</a:t>
              </a:r>
              <a:r>
                <a:rPr lang="pt-BR" dirty="0" smtClean="0"/>
                <a:t> </a:t>
              </a:r>
              <a:endParaRPr lang="pt-BR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582297" y="2995748"/>
              <a:ext cx="2055223" cy="9405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LOTE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7" name="Fluxograma: Decisão 6"/>
            <p:cNvSpPr/>
            <p:nvPr/>
          </p:nvSpPr>
          <p:spPr>
            <a:xfrm>
              <a:off x="5676427" y="2995748"/>
              <a:ext cx="1924594" cy="679268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Contem 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Conector reto 8"/>
            <p:cNvCxnSpPr>
              <a:endCxn id="7" idx="1"/>
            </p:cNvCxnSpPr>
            <p:nvPr/>
          </p:nvCxnSpPr>
          <p:spPr>
            <a:xfrm flipV="1">
              <a:off x="4502331" y="3335382"/>
              <a:ext cx="1174096" cy="1306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>
              <a:stCxn id="7" idx="3"/>
            </p:cNvCxnSpPr>
            <p:nvPr/>
          </p:nvCxnSpPr>
          <p:spPr>
            <a:xfrm>
              <a:off x="7601021" y="3335382"/>
              <a:ext cx="9812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/>
            <p:cNvSpPr txBox="1"/>
            <p:nvPr/>
          </p:nvSpPr>
          <p:spPr>
            <a:xfrm>
              <a:off x="7656230" y="2948632"/>
              <a:ext cx="87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1..1</a:t>
              </a:r>
              <a:endParaRPr lang="pt-BR" dirty="0"/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4506685" y="3133298"/>
              <a:ext cx="87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0</a:t>
              </a:r>
              <a:r>
                <a:rPr lang="pt-BR" dirty="0" smtClean="0"/>
                <a:t>..N</a:t>
              </a:r>
              <a:endParaRPr lang="pt-BR" dirty="0"/>
            </a:p>
          </p:txBody>
        </p:sp>
      </p:grpSp>
      <p:graphicFrame>
        <p:nvGraphicFramePr>
          <p:cNvPr id="19" name="Espaço Reservado para Conteúdo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636653"/>
              </p:ext>
            </p:extLst>
          </p:nvPr>
        </p:nvGraphicFramePr>
        <p:xfrm>
          <a:off x="8221506" y="3450771"/>
          <a:ext cx="372665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718">
                  <a:extLst>
                    <a:ext uri="{9D8B030D-6E8A-4147-A177-3AD203B41FA5}">
                      <a16:colId xmlns:a16="http://schemas.microsoft.com/office/drawing/2014/main" xmlns="" val="1811783937"/>
                    </a:ext>
                  </a:extLst>
                </a:gridCol>
                <a:gridCol w="1697516">
                  <a:extLst>
                    <a:ext uri="{9D8B030D-6E8A-4147-A177-3AD203B41FA5}">
                      <a16:colId xmlns:a16="http://schemas.microsoft.com/office/drawing/2014/main" xmlns="" val="1064817612"/>
                    </a:ext>
                  </a:extLst>
                </a:gridCol>
                <a:gridCol w="1498419">
                  <a:extLst>
                    <a:ext uri="{9D8B030D-6E8A-4147-A177-3AD203B41FA5}">
                      <a16:colId xmlns:a16="http://schemas.microsoft.com/office/drawing/2014/main" xmlns="" val="20053476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LOTE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023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pk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COD_LOTE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pt-B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NOME_LOTE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 (50)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61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336727"/>
            <a:ext cx="8911687" cy="1280890"/>
          </a:xfrm>
        </p:spPr>
        <p:txBody>
          <a:bodyPr/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32709" y="862149"/>
            <a:ext cx="10212030" cy="58521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PRODUTO(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COD_PRODUTO INTEGER NOT NULL,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VARCHAR(50),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DESCRICAO VARCHAR (50),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COD_LOTE INTEGER,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PK_COD_PRODUTO PRIMARY KEY (COD_PRODUTO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0" indent="0" algn="just">
              <a:buNone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LOTE(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COD_LOTE INTEGER NOT NULL,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NOME_LOTE VARCHAR (50),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PK_COD_LOTE PRIMARY KEY (COD_LOTE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 TABLE PRODUTO ADD CONSTRAINT FK_COD_LOTE1 FOREIGN KEY (COD_LOTE) REFERENCES LOTE (COD_LOTE);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80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416195" cy="1280890"/>
          </a:xfrm>
        </p:spPr>
        <p:txBody>
          <a:bodyPr/>
          <a:lstStyle/>
          <a:p>
            <a:r>
              <a:rPr lang="pt-BR" b="1" dirty="0"/>
              <a:t>Adicionar uma coluna à tabela:</a:t>
            </a:r>
            <a:endParaRPr lang="pt-B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00344" y="3283119"/>
            <a:ext cx="10444526" cy="523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 TABLE </a:t>
            </a:r>
            <a:r>
              <a:rPr kumimoji="0" lang="pt-BR" altLang="pt-BR" sz="2800" b="1" i="0" u="none" strike="noStrike" cap="none" normalizeH="0" baseline="0" dirty="0" err="1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kumimoji="0" lang="pt-BR" altLang="pt-BR" sz="2800" b="1" i="0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 </a:t>
            </a:r>
            <a:r>
              <a:rPr kumimoji="0" lang="pt-BR" altLang="pt-BR" sz="2800" b="1" i="0" u="none" strike="noStrike" cap="none" normalizeH="0" baseline="0" dirty="0" err="1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nome_coluna</a:t>
            </a:r>
            <a:r>
              <a:rPr kumimoji="0" lang="pt-BR" altLang="pt-BR" sz="2800" b="1" i="0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2800" b="1" i="0" u="none" strike="noStrike" cap="none" normalizeH="0" baseline="0" dirty="0" err="1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tipo_dados</a:t>
            </a:r>
            <a:r>
              <a:rPr kumimoji="0" lang="pt-BR" altLang="pt-BR" sz="2800" b="1" i="0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kumimoji="0" lang="pt-BR" altLang="pt-B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341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416195" cy="1280890"/>
          </a:xfrm>
        </p:spPr>
        <p:txBody>
          <a:bodyPr/>
          <a:lstStyle/>
          <a:p>
            <a:r>
              <a:rPr lang="pt-BR" b="1" dirty="0"/>
              <a:t>Excluir uma coluna de uma tabela: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11085" y="2220686"/>
            <a:ext cx="10511835" cy="3777622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 TABLE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DROP COLUMN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nome_coluna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38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92480" y="1637212"/>
            <a:ext cx="11643359" cy="3777622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uma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uma tabela:</a:t>
            </a:r>
          </a:p>
          <a:p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 TABLE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DROP CONSTRAINT </a:t>
            </a:r>
            <a:r>
              <a:rPr lang="pt-BR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nome_constraint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7429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44582" y="162556"/>
            <a:ext cx="8911687" cy="62121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EXERCICIOS.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8960" y="1325844"/>
            <a:ext cx="7056359" cy="445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9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44582" y="162556"/>
            <a:ext cx="8911687" cy="62121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EXERCICIOS.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0881" y="783772"/>
            <a:ext cx="5548902" cy="337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1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44582" y="162556"/>
            <a:ext cx="8911687" cy="62121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EXERCICIOS.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990" y="1273051"/>
            <a:ext cx="8406184" cy="507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8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44582" y="162556"/>
            <a:ext cx="8911687" cy="62121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EXERCICIOS.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5" y="1069054"/>
            <a:ext cx="7890554" cy="484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552</TotalTime>
  <Words>354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Cacho</vt:lpstr>
      <vt:lpstr>CHAVE ESTRANGEIRA</vt:lpstr>
      <vt:lpstr>CHAVE ESTRANGEIRA</vt:lpstr>
      <vt:lpstr>CHAVE ESTRANGEIRA</vt:lpstr>
      <vt:lpstr>CHAVE ESTRANGEIRA</vt:lpstr>
      <vt:lpstr>CHAVE ESTRANGEIRA</vt:lpstr>
      <vt:lpstr>CHAVE ESTRANGEIRA</vt:lpstr>
      <vt:lpstr>CHAVE ESTRANGEIRA</vt:lpstr>
      <vt:lpstr>Adicionar uma coluna à tabela:</vt:lpstr>
      <vt:lpstr>Excluir uma coluna de uma tabela:</vt:lpstr>
      <vt:lpstr>Apresentação do PowerPoint</vt:lpstr>
      <vt:lpstr>EXERCICIOS.</vt:lpstr>
      <vt:lpstr>EXERCICIOS.</vt:lpstr>
      <vt:lpstr>EXERCICIOS.</vt:lpstr>
      <vt:lpstr>EXERCICIOS.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CHAVE ESTRANGEIRA</dc:title>
  <dc:creator>MORAIS</dc:creator>
  <cp:lastModifiedBy>cliente</cp:lastModifiedBy>
  <cp:revision>9</cp:revision>
  <dcterms:created xsi:type="dcterms:W3CDTF">2020-02-18T18:46:03Z</dcterms:created>
  <dcterms:modified xsi:type="dcterms:W3CDTF">2024-02-29T00:19:29Z</dcterms:modified>
</cp:coreProperties>
</file>