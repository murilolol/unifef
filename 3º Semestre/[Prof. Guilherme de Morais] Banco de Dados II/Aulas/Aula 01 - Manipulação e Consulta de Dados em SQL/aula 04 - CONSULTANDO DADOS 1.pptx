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38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7E505-DB08-45AF-886C-CDFD46A3DC6F}" type="datetimeFigureOut">
              <a:rPr lang="pt-BR" smtClean="0"/>
              <a:t>13/03/2024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43602-8EAF-4ABE-9DA9-4AC5701E75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56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FF4EB53-032D-411A-B289-1522A0B77A5F}" type="slidenum">
              <a:rPr lang="pt-BR" smtClean="0">
                <a:latin typeface="Times New Roman" pitchFamily="18" charset="0"/>
              </a:rPr>
              <a:pPr/>
              <a:t>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5706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CONSULTANDO DADOS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3466418" y="4777381"/>
            <a:ext cx="6446007" cy="955875"/>
          </a:xfrm>
        </p:spPr>
        <p:txBody>
          <a:bodyPr/>
          <a:lstStyle/>
          <a:p>
            <a:pPr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872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Consultando Dados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7620000" cy="4997450"/>
          </a:xfrm>
        </p:spPr>
        <p:txBody>
          <a:bodyPr rtlCol="0">
            <a:normAutofit fontScale="92500" lnSpcReduction="10000"/>
          </a:bodyPr>
          <a:lstStyle/>
          <a:p>
            <a:pPr algn="just">
              <a:buFont typeface="Arial" pitchFamily="34" charset="0"/>
              <a:buChar char="•"/>
              <a:defRPr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certeza a tarefa mais interessante a se fazer em um banco de dados é consultar e manipular as informações nele estão armazenadas.</a:t>
            </a:r>
          </a:p>
          <a:p>
            <a:pPr algn="just">
              <a:buFont typeface="Arial" pitchFamily="34" charset="0"/>
              <a:buChar char="•"/>
              <a:defRPr/>
            </a:pPr>
            <a:endParaRPr lang="pt-B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itchFamily="34" charset="0"/>
              <a:buChar char="•"/>
              <a:defRPr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comando utilizado para a busca de informações é o mesmo para quaisquer consultas, tendo muitas opções disponíveis que podem variar dependendo do nível de detalhamento requerido.</a:t>
            </a:r>
          </a:p>
          <a:p>
            <a:pPr algn="just">
              <a:buFont typeface="Arial" pitchFamily="34" charset="0"/>
              <a:buChar char="•"/>
              <a:defRPr/>
            </a:pPr>
            <a:endParaRPr lang="pt-B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itchFamily="34" charset="0"/>
              <a:buChar char="•"/>
              <a:defRPr/>
            </a:pP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 aos dados não os modifica</a:t>
            </a:r>
          </a:p>
        </p:txBody>
      </p:sp>
    </p:spTree>
    <p:extLst>
      <p:ext uri="{BB962C8B-B14F-4D97-AF65-F5344CB8AC3E}">
        <p14:creationId xmlns:p14="http://schemas.microsoft.com/office/powerpoint/2010/main" val="3476689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Consultando Dados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071665" y="1412776"/>
            <a:ext cx="6986736" cy="4498446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pt-BR" sz="2800" dirty="0"/>
              <a:t>Comando: SELECT</a:t>
            </a:r>
          </a:p>
          <a:p>
            <a:pPr eaLnBrk="1" hangingPunct="1">
              <a:lnSpc>
                <a:spcPct val="70000"/>
              </a:lnSpc>
            </a:pPr>
            <a:r>
              <a:rPr lang="pt-BR" sz="2800" dirty="0" err="1"/>
              <a:t>Síntaxe</a:t>
            </a:r>
            <a:r>
              <a:rPr lang="pt-BR" sz="2800" dirty="0"/>
              <a:t>: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pt-BR" sz="2800" dirty="0"/>
              <a:t>	</a:t>
            </a:r>
            <a:r>
              <a:rPr lang="pt-PT" sz="2800" dirty="0">
                <a:latin typeface="Arial" charset="0"/>
                <a:cs typeface="Arial" charset="0"/>
              </a:rPr>
              <a:t> </a:t>
            </a:r>
            <a:r>
              <a:rPr lang="pt-PT" sz="2400" b="1" i="1" dirty="0">
                <a:latin typeface="Arial" charset="0"/>
                <a:cs typeface="Arial" charset="0"/>
              </a:rPr>
              <a:t>SELECT</a:t>
            </a:r>
            <a:r>
              <a:rPr lang="pt-PT" sz="2400" i="1" dirty="0">
                <a:latin typeface="Arial" charset="0"/>
                <a:cs typeface="Arial" charset="0"/>
              </a:rPr>
              <a:t> [tabela1.]campo1, [tabela2.]campo2</a:t>
            </a:r>
            <a:endParaRPr lang="en-US" sz="2400" i="1" dirty="0">
              <a:cs typeface="Times New Roman" pitchFamily="18" charset="0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pt-PT" sz="2400" i="1" dirty="0">
                <a:latin typeface="Arial" charset="0"/>
                <a:cs typeface="Arial" charset="0"/>
              </a:rPr>
              <a:t>	</a:t>
            </a:r>
            <a:r>
              <a:rPr lang="pt-PT" sz="2400" b="1" i="1" dirty="0">
                <a:latin typeface="Arial" charset="0"/>
                <a:cs typeface="Arial" charset="0"/>
              </a:rPr>
              <a:t>FROM</a:t>
            </a:r>
            <a:r>
              <a:rPr lang="pt-PT" sz="2400" i="1" dirty="0">
                <a:latin typeface="Arial" charset="0"/>
                <a:cs typeface="Arial" charset="0"/>
              </a:rPr>
              <a:t> tabela1 [, tabela2] [, ...]</a:t>
            </a:r>
            <a:endParaRPr lang="en-US" sz="2400" i="1" dirty="0">
              <a:cs typeface="Times New Roman" pitchFamily="18" charset="0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sz="2400" i="1" dirty="0">
                <a:latin typeface="Arial" charset="0"/>
                <a:cs typeface="Arial" charset="0"/>
              </a:rPr>
              <a:t>	[</a:t>
            </a:r>
            <a:r>
              <a:rPr lang="en-US" sz="2400" b="1" i="1" dirty="0">
                <a:latin typeface="Arial" charset="0"/>
                <a:cs typeface="Arial" charset="0"/>
              </a:rPr>
              <a:t>WHERE...</a:t>
            </a:r>
            <a:r>
              <a:rPr lang="en-US" sz="2400" i="1" dirty="0">
                <a:latin typeface="Arial" charset="0"/>
                <a:cs typeface="Arial" charset="0"/>
              </a:rPr>
              <a:t> ]</a:t>
            </a:r>
            <a:endParaRPr lang="en-US" sz="2400" i="1" dirty="0">
              <a:cs typeface="Times New Roman" pitchFamily="18" charset="0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sz="2400" i="1" dirty="0">
                <a:latin typeface="Arial" charset="0"/>
                <a:cs typeface="Arial" charset="0"/>
              </a:rPr>
              <a:t>	[</a:t>
            </a:r>
            <a:r>
              <a:rPr lang="en-US" sz="2400" b="1" i="1" dirty="0">
                <a:latin typeface="Arial" charset="0"/>
                <a:cs typeface="Arial" charset="0"/>
              </a:rPr>
              <a:t>GROUP BY</a:t>
            </a:r>
            <a:r>
              <a:rPr lang="en-US" sz="2400" i="1" dirty="0">
                <a:latin typeface="Arial" charset="0"/>
                <a:cs typeface="Arial" charset="0"/>
              </a:rPr>
              <a:t>... ]</a:t>
            </a:r>
            <a:endParaRPr lang="en-US" sz="2400" i="1" dirty="0">
              <a:cs typeface="Times New Roman" pitchFamily="18" charset="0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sz="2400" i="1" dirty="0">
                <a:latin typeface="Arial" charset="0"/>
                <a:cs typeface="Arial" charset="0"/>
              </a:rPr>
              <a:t>	[</a:t>
            </a:r>
            <a:r>
              <a:rPr lang="en-US" sz="2400" b="1" i="1" dirty="0">
                <a:latin typeface="Arial" charset="0"/>
                <a:cs typeface="Arial" charset="0"/>
              </a:rPr>
              <a:t>ORDER BY</a:t>
            </a:r>
            <a:r>
              <a:rPr lang="en-US" sz="2400" i="1" dirty="0">
                <a:latin typeface="Arial" charset="0"/>
                <a:cs typeface="Arial" charset="0"/>
              </a:rPr>
              <a:t>... ]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sz="2400" i="1" dirty="0">
                <a:latin typeface="Arial" charset="0"/>
                <a:cs typeface="Arial" charset="0"/>
              </a:rPr>
              <a:t>	[</a:t>
            </a:r>
            <a:r>
              <a:rPr lang="en-US" sz="2400" b="1" i="1" dirty="0">
                <a:latin typeface="Arial" charset="0"/>
                <a:cs typeface="Arial" charset="0"/>
              </a:rPr>
              <a:t>ETC…]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sz="2000" i="1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sz="2000" i="1" dirty="0" err="1">
                <a:latin typeface="Arial" charset="0"/>
                <a:cs typeface="Arial" charset="0"/>
              </a:rPr>
              <a:t>Obs</a:t>
            </a:r>
            <a:r>
              <a:rPr lang="en-US" sz="2000" i="1" dirty="0">
                <a:latin typeface="Arial" charset="0"/>
                <a:cs typeface="Arial" charset="0"/>
              </a:rPr>
              <a:t>: o </a:t>
            </a:r>
            <a:r>
              <a:rPr lang="en-US" sz="2000" i="1" dirty="0" err="1">
                <a:latin typeface="Arial" charset="0"/>
                <a:cs typeface="Arial" charset="0"/>
              </a:rPr>
              <a:t>símbolo</a:t>
            </a:r>
            <a:r>
              <a:rPr lang="en-US" sz="2000" i="1" dirty="0">
                <a:latin typeface="Arial" charset="0"/>
                <a:cs typeface="Arial" charset="0"/>
              </a:rPr>
              <a:t> [ ] </a:t>
            </a:r>
            <a:r>
              <a:rPr lang="en-US" sz="2000" i="1" dirty="0" err="1">
                <a:latin typeface="Arial" charset="0"/>
                <a:cs typeface="Arial" charset="0"/>
              </a:rPr>
              <a:t>indica</a:t>
            </a:r>
            <a:r>
              <a:rPr lang="en-US" sz="2000" i="1" dirty="0">
                <a:latin typeface="Arial" charset="0"/>
                <a:cs typeface="Arial" charset="0"/>
              </a:rPr>
              <a:t> que a </a:t>
            </a:r>
            <a:r>
              <a:rPr lang="en-US" sz="2000" i="1" dirty="0" err="1">
                <a:latin typeface="Arial" charset="0"/>
                <a:cs typeface="Arial" charset="0"/>
              </a:rPr>
              <a:t>informação</a:t>
            </a:r>
            <a:r>
              <a:rPr lang="en-US" sz="2000" i="1" dirty="0">
                <a:latin typeface="Arial" charset="0"/>
                <a:cs typeface="Arial" charset="0"/>
              </a:rPr>
              <a:t> </a:t>
            </a:r>
            <a:r>
              <a:rPr lang="en-US" sz="2000" i="1" dirty="0" err="1">
                <a:latin typeface="Arial" charset="0"/>
                <a:cs typeface="Arial" charset="0"/>
              </a:rPr>
              <a:t>não</a:t>
            </a:r>
            <a:r>
              <a:rPr lang="en-US" sz="2000" i="1" dirty="0">
                <a:latin typeface="Arial" charset="0"/>
                <a:cs typeface="Arial" charset="0"/>
              </a:rPr>
              <a:t> é </a:t>
            </a:r>
            <a:r>
              <a:rPr lang="en-US" sz="2000" i="1" dirty="0" err="1">
                <a:latin typeface="Arial" charset="0"/>
                <a:cs typeface="Arial" charset="0"/>
              </a:rPr>
              <a:t>obrigatória</a:t>
            </a:r>
            <a:endParaRPr lang="en-US" sz="20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93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Comando </a:t>
            </a:r>
            <a:r>
              <a:rPr lang="pt-BR" dirty="0" err="1" smtClean="0"/>
              <a:t>Select</a:t>
            </a:r>
            <a:endParaRPr lang="pt-BR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872343" y="1619794"/>
            <a:ext cx="9632269" cy="429142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Consultar todos os campos de todos os registros da tabela clientes (predicado *)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 Clientes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Consultar campos específicos de todos os registros da tabela clientes (tem que listar os campos desejados)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CodCliente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NomeCliente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EndCliente</a:t>
            </a:r>
            <a:endParaRPr lang="pt-B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dirty="0"/>
              <a:t>	</a:t>
            </a:r>
            <a:endParaRPr lang="pt-BR" sz="2000" i="1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000" i="1" dirty="0"/>
          </a:p>
        </p:txBody>
      </p:sp>
    </p:spTree>
    <p:extLst>
      <p:ext uri="{BB962C8B-B14F-4D97-AF65-F5344CB8AC3E}">
        <p14:creationId xmlns:p14="http://schemas.microsoft.com/office/powerpoint/2010/main" val="86213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620713"/>
            <a:ext cx="7620000" cy="1143000"/>
          </a:xfrm>
        </p:spPr>
        <p:txBody>
          <a:bodyPr/>
          <a:lstStyle/>
          <a:p>
            <a:pPr>
              <a:defRPr/>
            </a:pPr>
            <a:r>
              <a:rPr lang="pt-BR" sz="4400" dirty="0"/>
              <a:t>Ordenando Dados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1847528" y="1988840"/>
            <a:ext cx="7829550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ORDER BY -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Consulta de todos os campos de todos os registros da tabela clientes ordenados alfabeticamente pelo nome</a:t>
            </a:r>
          </a:p>
          <a:p>
            <a:pPr eaLnBrk="1" hangingPunct="1">
              <a:lnSpc>
                <a:spcPct val="80000"/>
              </a:lnSpc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2800" i="1" dirty="0"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2800" i="1" dirty="0">
                <a:latin typeface="Arial" panose="020B0604020202020204" pitchFamily="34" charset="0"/>
                <a:cs typeface="Arial" panose="020B0604020202020204" pitchFamily="34" charset="0"/>
              </a:rPr>
              <a:t> CLIENTES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r>
              <a:rPr lang="pt-BR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NomeCliente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24602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z="4000" dirty="0"/>
              <a:t>Ordenando mais de um Dados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989138"/>
            <a:ext cx="7640638" cy="461645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 de campos específicos de todos os registros da tabela clientes ordenados alfabeticamente pelo nome e em seguida pela idade.</a:t>
            </a:r>
          </a:p>
          <a:p>
            <a:pPr algn="just" eaLnBrk="1" hangingPunct="1"/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pt-BR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CodCliente</a:t>
            </a: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NomeCliente</a:t>
            </a: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Idade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pt-BR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CLIENTES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BY</a:t>
            </a: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NomeCliente</a:t>
            </a:r>
            <a:r>
              <a:rPr lang="pt-BR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Idade</a:t>
            </a: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0055226" y="5648326"/>
            <a:ext cx="549275" cy="396875"/>
          </a:xfrm>
          <a:prstGeom prst="bracketPair">
            <a:avLst>
              <a:gd name="adj" fmla="val 1794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fld id="{3E809091-F379-4FF3-B561-69EE441AD22B}" type="slidenum">
              <a:rPr lang="pt-BR"/>
              <a:pPr lvl="1"/>
              <a:t>6</a:t>
            </a:fld>
            <a:endParaRPr lang="pt-B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91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Filtrando Dados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844675"/>
            <a:ext cx="7620000" cy="48006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pt-BR" sz="3200"/>
              <a:t>Consulta de todos os campos dos clientes que moram no estado de São Paulo (uso de cláusula </a:t>
            </a:r>
            <a:r>
              <a:rPr lang="pt-BR" sz="3200" i="1"/>
              <a:t>Where</a:t>
            </a:r>
            <a:r>
              <a:rPr lang="pt-BR" sz="3200"/>
              <a:t> para filtro)</a:t>
            </a:r>
          </a:p>
          <a:p>
            <a:pPr algn="just" eaLnBrk="1" hangingPunct="1">
              <a:lnSpc>
                <a:spcPct val="80000"/>
              </a:lnSpc>
            </a:pPr>
            <a:endParaRPr lang="pt-BR" sz="320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3200"/>
              <a:t>	</a:t>
            </a:r>
            <a:r>
              <a:rPr lang="pt-BR" sz="2800" b="1" i="1"/>
              <a:t>SELECT</a:t>
            </a:r>
            <a:r>
              <a:rPr lang="pt-BR" sz="2800" i="1"/>
              <a:t> 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i="1"/>
              <a:t>	</a:t>
            </a:r>
            <a:r>
              <a:rPr lang="pt-BR" sz="2800" b="1" i="1"/>
              <a:t>FROM </a:t>
            </a:r>
            <a:r>
              <a:rPr lang="pt-BR" sz="2800" i="1"/>
              <a:t>CLIENTES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i="1"/>
              <a:t>	</a:t>
            </a:r>
            <a:r>
              <a:rPr lang="pt-BR" sz="2800" b="1" i="1"/>
              <a:t>WHERE </a:t>
            </a:r>
            <a:r>
              <a:rPr lang="pt-BR" sz="2800" i="1"/>
              <a:t>Estado = ‘SP’</a:t>
            </a:r>
            <a:endParaRPr lang="pt-BR" sz="32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1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z="4000" dirty="0"/>
              <a:t>Filtrando Dados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1774826" y="1773238"/>
            <a:ext cx="7713663" cy="48768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pt-BR" sz="3200" dirty="0"/>
              <a:t>Consulta de campos específicos dos clientes que moram no estado de São Paulo (uso de cláusula </a:t>
            </a:r>
            <a:r>
              <a:rPr lang="pt-BR" sz="3200" i="1" dirty="0" err="1"/>
              <a:t>Where</a:t>
            </a:r>
            <a:r>
              <a:rPr lang="pt-BR" sz="3200" dirty="0"/>
              <a:t> para filtro)</a:t>
            </a:r>
          </a:p>
          <a:p>
            <a:pPr algn="just" eaLnBrk="1" hangingPunct="1">
              <a:lnSpc>
                <a:spcPct val="80000"/>
              </a:lnSpc>
            </a:pPr>
            <a:endParaRPr lang="pt-BR" sz="3200" dirty="0"/>
          </a:p>
          <a:p>
            <a:pPr algn="just" eaLnBrk="1" hangingPunct="1">
              <a:lnSpc>
                <a:spcPct val="80000"/>
              </a:lnSpc>
            </a:pPr>
            <a:endParaRPr lang="pt-BR" sz="32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3200" dirty="0"/>
              <a:t>	 </a:t>
            </a:r>
            <a:r>
              <a:rPr lang="pt-BR" sz="2800" b="1" i="1" dirty="0"/>
              <a:t>SELECT</a:t>
            </a:r>
            <a:r>
              <a:rPr lang="pt-BR" sz="2800" i="1" dirty="0"/>
              <a:t> </a:t>
            </a:r>
            <a:r>
              <a:rPr lang="pt-BR" sz="2800" i="1" dirty="0" err="1"/>
              <a:t>CodCliente</a:t>
            </a:r>
            <a:r>
              <a:rPr lang="pt-BR" sz="2800" i="1" dirty="0"/>
              <a:t>, </a:t>
            </a:r>
            <a:r>
              <a:rPr lang="pt-BR" sz="2800" i="1" dirty="0" err="1"/>
              <a:t>NomeCliente</a:t>
            </a:r>
            <a:r>
              <a:rPr lang="pt-BR" sz="2800" i="1" dirty="0"/>
              <a:t>, </a:t>
            </a:r>
            <a:r>
              <a:rPr lang="pt-BR" sz="2800" i="1" dirty="0" err="1"/>
              <a:t>EndCliente</a:t>
            </a:r>
            <a:endParaRPr lang="pt-BR" sz="2800" i="1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i="1" dirty="0"/>
              <a:t>	 </a:t>
            </a:r>
            <a:r>
              <a:rPr lang="pt-BR" sz="2800" b="1" i="1" dirty="0"/>
              <a:t>FROM</a:t>
            </a:r>
            <a:r>
              <a:rPr lang="pt-BR" sz="2800" i="1" dirty="0"/>
              <a:t> Clientes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800" i="1" dirty="0"/>
              <a:t>	 </a:t>
            </a:r>
            <a:r>
              <a:rPr lang="pt-BR" sz="2800" b="1" i="1" dirty="0"/>
              <a:t>WHERE</a:t>
            </a:r>
            <a:r>
              <a:rPr lang="pt-BR" sz="2800" i="1" dirty="0"/>
              <a:t> Estado = ‘SP’</a:t>
            </a:r>
            <a:endParaRPr lang="pt-BR" sz="32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b="1" dirty="0" err="1"/>
              <a:t>Obs</a:t>
            </a:r>
            <a:r>
              <a:rPr lang="pt-BR" b="1" dirty="0"/>
              <a:t>: além do operador = podemos usar os operadores &lt;&gt;, &gt;, &lt;, &gt;=, &lt;=</a:t>
            </a:r>
          </a:p>
          <a:p>
            <a:pPr eaLnBrk="1" hangingPunct="1">
              <a:lnSpc>
                <a:spcPct val="80000"/>
              </a:lnSpc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62900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z="4000" dirty="0"/>
              <a:t>Filtrando e Ordenando Dados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919536" y="1628800"/>
            <a:ext cx="7772400" cy="4876800"/>
          </a:xfrm>
        </p:spPr>
        <p:txBody>
          <a:bodyPr/>
          <a:lstStyle/>
          <a:p>
            <a:pPr algn="just" eaLnBrk="1" hangingPunct="1"/>
            <a:r>
              <a:rPr lang="pt-BR" sz="2800" dirty="0"/>
              <a:t>Consulta de todos os campos dos clientes que moram no estado de São Paulo (uso de cláusula </a:t>
            </a:r>
            <a:r>
              <a:rPr lang="pt-BR" sz="2800" i="1" dirty="0" err="1"/>
              <a:t>Where</a:t>
            </a:r>
            <a:r>
              <a:rPr lang="pt-BR" sz="2800" dirty="0"/>
              <a:t> para filtro) ordenados pelo nome do cliente</a:t>
            </a:r>
          </a:p>
          <a:p>
            <a:pPr algn="just" eaLnBrk="1" hangingPunct="1"/>
            <a:endParaRPr lang="pt-BR" sz="2800" dirty="0"/>
          </a:p>
          <a:p>
            <a:pPr algn="just" eaLnBrk="1" hangingPunct="1">
              <a:buFont typeface="Wingdings" pitchFamily="2" charset="2"/>
              <a:buNone/>
            </a:pPr>
            <a:r>
              <a:rPr lang="pt-BR" sz="2800" dirty="0"/>
              <a:t>	</a:t>
            </a:r>
            <a:r>
              <a:rPr lang="pt-BR" sz="2800" b="1" i="1" dirty="0"/>
              <a:t>SELECT</a:t>
            </a:r>
            <a:r>
              <a:rPr lang="pt-BR" sz="2800" i="1" dirty="0"/>
              <a:t> *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800" i="1" dirty="0"/>
              <a:t>	</a:t>
            </a:r>
            <a:r>
              <a:rPr lang="pt-BR" sz="2800" b="1" i="1" dirty="0"/>
              <a:t>FROM</a:t>
            </a:r>
            <a:r>
              <a:rPr lang="pt-BR" sz="2800" i="1" dirty="0"/>
              <a:t> CLIENTES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800" i="1" dirty="0"/>
              <a:t>	</a:t>
            </a:r>
            <a:r>
              <a:rPr lang="pt-BR" sz="2800" b="1" i="1" dirty="0"/>
              <a:t>WHERE </a:t>
            </a:r>
            <a:r>
              <a:rPr lang="pt-BR" sz="2800" i="1" dirty="0"/>
              <a:t>Estado = ‘SP’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200" dirty="0"/>
              <a:t>	</a:t>
            </a:r>
            <a:r>
              <a:rPr lang="pt-BR" sz="2800" b="1" i="1" dirty="0"/>
              <a:t>ORDER BY </a:t>
            </a:r>
            <a:r>
              <a:rPr lang="pt-BR" sz="2800" i="1" dirty="0" err="1"/>
              <a:t>NomeCliente</a:t>
            </a:r>
            <a:endParaRPr lang="pt-BR" sz="2800" i="1" dirty="0"/>
          </a:p>
          <a:p>
            <a:pPr eaLnBrk="1" hangingPunct="1">
              <a:buFont typeface="Wingdings" pitchFamily="2" charset="2"/>
              <a:buNone/>
            </a:pPr>
            <a:endParaRPr lang="pt-BR" sz="3200" dirty="0"/>
          </a:p>
          <a:p>
            <a:pPr eaLnBrk="1" hangingPunct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18489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z="4000" dirty="0"/>
              <a:t>Filtrando e Ordenando Dados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19288" y="1981201"/>
            <a:ext cx="7772400" cy="4543425"/>
          </a:xfrm>
        </p:spPr>
        <p:txBody>
          <a:bodyPr/>
          <a:lstStyle/>
          <a:p>
            <a:pPr algn="just" eaLnBrk="1" hangingPunct="1"/>
            <a:r>
              <a:rPr lang="pt-BR"/>
              <a:t>Consulta de campos específicos dos clientes que moram no estado de São Paulo (uso de cláusula </a:t>
            </a:r>
            <a:r>
              <a:rPr lang="pt-BR" i="1"/>
              <a:t>Where</a:t>
            </a:r>
            <a:r>
              <a:rPr lang="pt-BR"/>
              <a:t> para filtro) ordenados pelo nome do cliente</a:t>
            </a:r>
          </a:p>
          <a:p>
            <a:pPr algn="just" eaLnBrk="1" hangingPunct="1"/>
            <a:endParaRPr lang="pt-BR"/>
          </a:p>
          <a:p>
            <a:pPr eaLnBrk="1" hangingPunct="1">
              <a:buFont typeface="Wingdings" pitchFamily="2" charset="2"/>
              <a:buNone/>
            </a:pPr>
            <a:r>
              <a:rPr lang="pt-BR" sz="2800"/>
              <a:t>	 </a:t>
            </a:r>
            <a:r>
              <a:rPr lang="pt-BR" sz="2800" b="1" i="1"/>
              <a:t>SELECT </a:t>
            </a:r>
            <a:r>
              <a:rPr lang="pt-BR" sz="2800" i="1"/>
              <a:t>CodCliente, NomeCliente, EnderecoCliente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800" i="1"/>
              <a:t>	 </a:t>
            </a:r>
            <a:r>
              <a:rPr lang="pt-BR" sz="2800" b="1" i="1"/>
              <a:t>FROM </a:t>
            </a:r>
            <a:r>
              <a:rPr lang="pt-BR" sz="2800" i="1"/>
              <a:t>CLIENTES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2800" i="1"/>
              <a:t>	 </a:t>
            </a:r>
            <a:r>
              <a:rPr lang="pt-BR" sz="2800" b="1" i="1"/>
              <a:t>WHERE </a:t>
            </a:r>
            <a:r>
              <a:rPr lang="pt-BR" sz="2800" i="1"/>
              <a:t>Estado = ‘SP’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200"/>
              <a:t>	</a:t>
            </a:r>
            <a:r>
              <a:rPr lang="pt-BR" sz="2800" b="1" i="1"/>
              <a:t>ORDER BY </a:t>
            </a:r>
            <a:r>
              <a:rPr lang="pt-BR" sz="2800" i="1"/>
              <a:t>NomeCliente</a:t>
            </a:r>
          </a:p>
          <a:p>
            <a:pPr eaLnBrk="1" hangingPunct="1">
              <a:buFont typeface="Wingdings" pitchFamily="2" charset="2"/>
              <a:buNone/>
            </a:pPr>
            <a:endParaRPr lang="pt-BR" sz="2800"/>
          </a:p>
        </p:txBody>
      </p:sp>
    </p:spTree>
    <p:extLst>
      <p:ext uri="{BB962C8B-B14F-4D97-AF65-F5344CB8AC3E}">
        <p14:creationId xmlns:p14="http://schemas.microsoft.com/office/powerpoint/2010/main" val="287094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Condições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91544" y="1484784"/>
            <a:ext cx="7620000" cy="5112568"/>
          </a:xfrm>
        </p:spPr>
        <p:txBody>
          <a:bodyPr/>
          <a:lstStyle/>
          <a:p>
            <a:r>
              <a:rPr lang="pt-BR" dirty="0" smtClean="0"/>
              <a:t>Usando </a:t>
            </a:r>
            <a:r>
              <a:rPr lang="pt-BR" dirty="0"/>
              <a:t>condições para distinguir </a:t>
            </a:r>
            <a:r>
              <a:rPr lang="pt-BR" dirty="0" smtClean="0"/>
              <a:t>dados. Uma </a:t>
            </a:r>
            <a:r>
              <a:rPr lang="pt-BR" dirty="0">
                <a:solidFill>
                  <a:srgbClr val="FF0000"/>
                </a:solidFill>
              </a:rPr>
              <a:t>condição</a:t>
            </a:r>
            <a:r>
              <a:rPr lang="pt-BR" dirty="0"/>
              <a:t> é parte de uma consulta que é usada para exibir informações seletivas, conforme especificadas pelo usuário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A cláusula </a:t>
            </a:r>
            <a:r>
              <a:rPr lang="pt-BR" dirty="0">
                <a:solidFill>
                  <a:srgbClr val="FF0000"/>
                </a:solidFill>
              </a:rPr>
              <a:t>WHERE</a:t>
            </a:r>
            <a:r>
              <a:rPr lang="pt-BR" dirty="0"/>
              <a:t> pode conter mais de uma condição e, nesse caso as condições são unidas por operadores </a:t>
            </a:r>
            <a:r>
              <a:rPr lang="pt-BR" dirty="0">
                <a:solidFill>
                  <a:srgbClr val="FF0000"/>
                </a:solidFill>
              </a:rPr>
              <a:t>AND</a:t>
            </a:r>
            <a:r>
              <a:rPr lang="pt-BR" dirty="0"/>
              <a:t> e </a:t>
            </a:r>
            <a:r>
              <a:rPr lang="pt-BR" dirty="0">
                <a:solidFill>
                  <a:srgbClr val="FF0000"/>
                </a:solidFill>
              </a:rPr>
              <a:t>OR</a:t>
            </a:r>
            <a:r>
              <a:rPr lang="pt-BR" dirty="0"/>
              <a:t>.</a:t>
            </a:r>
          </a:p>
          <a:p>
            <a:endParaRPr lang="pt-BR" dirty="0" smtClean="0"/>
          </a:p>
          <a:p>
            <a:pPr marL="114300" indent="0">
              <a:buNone/>
            </a:pPr>
            <a:r>
              <a:rPr lang="pt-BR" b="1" dirty="0" smtClean="0"/>
              <a:t>Exemplo</a:t>
            </a:r>
            <a:r>
              <a:rPr lang="pt-BR" b="1" dirty="0"/>
              <a:t>: </a:t>
            </a:r>
            <a:r>
              <a:rPr lang="pt-BR" dirty="0"/>
              <a:t>Encontre as descrições e os valores unitários do produtos cujo valor unitário &gt; 1.00</a:t>
            </a:r>
            <a:r>
              <a:rPr lang="pt-BR" dirty="0" smtClean="0"/>
              <a:t>.</a:t>
            </a:r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i="1" dirty="0" smtClean="0"/>
              <a:t>SELECT </a:t>
            </a:r>
            <a:r>
              <a:rPr lang="pt-BR" i="1" dirty="0" err="1"/>
              <a:t>descricao</a:t>
            </a:r>
            <a:endParaRPr lang="pt-BR" dirty="0"/>
          </a:p>
          <a:p>
            <a:pPr marL="114300" indent="0">
              <a:buNone/>
            </a:pPr>
            <a:r>
              <a:rPr lang="pt-BR" i="1" dirty="0" smtClean="0"/>
              <a:t>FROM </a:t>
            </a:r>
            <a:r>
              <a:rPr lang="pt-BR" i="1" dirty="0"/>
              <a:t>produto</a:t>
            </a:r>
            <a:endParaRPr lang="pt-BR" dirty="0"/>
          </a:p>
          <a:p>
            <a:pPr marL="114300" indent="0">
              <a:buNone/>
            </a:pPr>
            <a:r>
              <a:rPr lang="pt-BR" i="1" dirty="0" smtClean="0"/>
              <a:t>WHERE </a:t>
            </a:r>
            <a:r>
              <a:rPr lang="pt-BR" i="1" dirty="0" err="1"/>
              <a:t>val_unit</a:t>
            </a:r>
            <a:r>
              <a:rPr lang="pt-BR" i="1" dirty="0"/>
              <a:t> &gt;= </a:t>
            </a:r>
            <a:r>
              <a:rPr lang="pt-BR" i="1" dirty="0" smtClean="0"/>
              <a:t>1.00;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466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Mais Exemplos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91544" y="1268760"/>
            <a:ext cx="7620000" cy="4800600"/>
          </a:xfrm>
        </p:spPr>
        <p:txBody>
          <a:bodyPr/>
          <a:lstStyle/>
          <a:p>
            <a:pPr marL="114300" indent="0">
              <a:buNone/>
            </a:pPr>
            <a:r>
              <a:rPr lang="pt-BR" sz="2400" b="1" i="1" dirty="0"/>
              <a:t>SELECT</a:t>
            </a:r>
            <a:r>
              <a:rPr lang="pt-BR" sz="2400" i="1" dirty="0"/>
              <a:t> </a:t>
            </a:r>
            <a:r>
              <a:rPr lang="pt-BR" sz="2400" i="1" dirty="0" err="1"/>
              <a:t>nome_aluno</a:t>
            </a:r>
            <a:r>
              <a:rPr lang="pt-BR" sz="2400" i="1" dirty="0"/>
              <a:t>, </a:t>
            </a:r>
            <a:r>
              <a:rPr lang="pt-BR" sz="2400" i="1" dirty="0" err="1"/>
              <a:t>data_nasc_aluno</a:t>
            </a:r>
            <a:endParaRPr lang="pt-BR" sz="2400" dirty="0"/>
          </a:p>
          <a:p>
            <a:pPr marL="114300" indent="0">
              <a:buNone/>
            </a:pPr>
            <a:r>
              <a:rPr lang="pt-BR" sz="2400" b="1" i="1" dirty="0"/>
              <a:t>FROM</a:t>
            </a:r>
            <a:r>
              <a:rPr lang="pt-BR" sz="2400" i="1" dirty="0"/>
              <a:t> </a:t>
            </a:r>
            <a:r>
              <a:rPr lang="pt-BR" sz="2400" i="1" dirty="0" err="1"/>
              <a:t>alu_aluno</a:t>
            </a:r>
            <a:endParaRPr lang="pt-BR" sz="2400" dirty="0"/>
          </a:p>
          <a:p>
            <a:pPr marL="114300" indent="0">
              <a:buNone/>
            </a:pPr>
            <a:r>
              <a:rPr lang="pt-BR" sz="2400" b="1" i="1" dirty="0"/>
              <a:t>WHERE</a:t>
            </a:r>
            <a:r>
              <a:rPr lang="pt-BR" sz="2400" i="1" dirty="0"/>
              <a:t> </a:t>
            </a:r>
            <a:r>
              <a:rPr lang="pt-BR" sz="2400" i="1" dirty="0" err="1"/>
              <a:t>data_nasc_aluno</a:t>
            </a:r>
            <a:r>
              <a:rPr lang="pt-BR" sz="2400" i="1" dirty="0"/>
              <a:t> &gt;= '30/01/1980';</a:t>
            </a:r>
          </a:p>
          <a:p>
            <a:pPr marL="114300" indent="0">
              <a:buNone/>
            </a:pPr>
            <a:endParaRPr lang="pt-BR" sz="2400" i="1" dirty="0"/>
          </a:p>
          <a:p>
            <a:pPr marL="114300" indent="0">
              <a:buNone/>
            </a:pPr>
            <a:r>
              <a:rPr lang="pt-BR" b="1" i="1" dirty="0" smtClean="0"/>
              <a:t>SELECT</a:t>
            </a:r>
            <a:r>
              <a:rPr lang="pt-BR" i="1" dirty="0" smtClean="0"/>
              <a:t> </a:t>
            </a:r>
            <a:r>
              <a:rPr lang="pt-BR" i="1" dirty="0"/>
              <a:t>*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FROM</a:t>
            </a:r>
            <a:r>
              <a:rPr lang="pt-BR" i="1" dirty="0" smtClean="0"/>
              <a:t> </a:t>
            </a:r>
            <a:r>
              <a:rPr lang="pt-BR" i="1" dirty="0"/>
              <a:t>pedido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WHERE</a:t>
            </a:r>
            <a:r>
              <a:rPr lang="pt-BR" i="1" dirty="0" smtClean="0"/>
              <a:t> </a:t>
            </a:r>
            <a:r>
              <a:rPr lang="pt-BR" i="1" dirty="0" err="1"/>
              <a:t>codigo_vendedor</a:t>
            </a:r>
            <a:r>
              <a:rPr lang="pt-BR" i="1" dirty="0"/>
              <a:t> = 101</a:t>
            </a:r>
            <a:r>
              <a:rPr lang="pt-BR" i="1" dirty="0" smtClean="0"/>
              <a:t>;</a:t>
            </a:r>
          </a:p>
          <a:p>
            <a:pPr marL="114300" indent="0">
              <a:buNone/>
            </a:pPr>
            <a:endParaRPr lang="pt-BR" i="1" dirty="0"/>
          </a:p>
          <a:p>
            <a:pPr marL="114300" indent="0">
              <a:buNone/>
            </a:pPr>
            <a:r>
              <a:rPr lang="pt-BR" b="1" i="1" dirty="0" smtClean="0"/>
              <a:t>SELECT</a:t>
            </a:r>
            <a:r>
              <a:rPr lang="pt-BR" i="1" dirty="0" smtClean="0"/>
              <a:t> </a:t>
            </a:r>
            <a:r>
              <a:rPr lang="pt-BR" i="1" dirty="0" err="1"/>
              <a:t>cod_instrut</a:t>
            </a:r>
            <a:r>
              <a:rPr lang="pt-BR" i="1" dirty="0"/>
              <a:t>, </a:t>
            </a:r>
            <a:r>
              <a:rPr lang="pt-BR" i="1" dirty="0" err="1"/>
              <a:t>nome_instrut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FROM</a:t>
            </a:r>
            <a:r>
              <a:rPr lang="pt-BR" i="1" dirty="0" smtClean="0"/>
              <a:t> </a:t>
            </a:r>
            <a:r>
              <a:rPr lang="pt-BR" i="1" dirty="0" err="1"/>
              <a:t>alu_instrutor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WHERE</a:t>
            </a:r>
            <a:r>
              <a:rPr lang="pt-BR" i="1" dirty="0" smtClean="0"/>
              <a:t> </a:t>
            </a:r>
            <a:r>
              <a:rPr lang="pt-BR" i="1" dirty="0" err="1"/>
              <a:t>data_admissao_instrut</a:t>
            </a:r>
            <a:r>
              <a:rPr lang="pt-BR" i="1" dirty="0"/>
              <a:t> &gt;= '15/01/1997';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391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96834" y="223516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Operador AND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98617" y="1837156"/>
            <a:ext cx="7620000" cy="4800600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/>
              <a:t>O operador AND aceita várias condições em uma cláusula WHERE.</a:t>
            </a:r>
          </a:p>
          <a:p>
            <a:pPr lvl="1"/>
            <a:r>
              <a:rPr lang="pt-BR" dirty="0" smtClean="0"/>
              <a:t>Para </a:t>
            </a:r>
            <a:r>
              <a:rPr lang="pt-BR" dirty="0"/>
              <a:t>que a instrução SQL execute uma ação, todas as condições separadas por AND devem ser TRUE</a:t>
            </a:r>
            <a:r>
              <a:rPr lang="pt-BR" dirty="0" smtClean="0"/>
              <a:t>.</a:t>
            </a:r>
          </a:p>
          <a:p>
            <a:pPr lvl="1"/>
            <a:endParaRPr lang="pt-BR" dirty="0"/>
          </a:p>
          <a:p>
            <a:r>
              <a:rPr lang="pt-BR" sz="2400" dirty="0"/>
              <a:t>Exemplo: Encontre os nomes dos produtos cujo valor unitário esteja entre 0.50 e 2.00</a:t>
            </a:r>
          </a:p>
          <a:p>
            <a:endParaRPr lang="pt-BR" sz="2400" dirty="0"/>
          </a:p>
          <a:p>
            <a:pPr marL="114300" indent="0">
              <a:buNone/>
            </a:pPr>
            <a:r>
              <a:rPr lang="pt-BR" sz="2800" b="1" i="1" dirty="0"/>
              <a:t>SELECT</a:t>
            </a:r>
            <a:r>
              <a:rPr lang="pt-BR" sz="2800" i="1" dirty="0"/>
              <a:t> </a:t>
            </a:r>
            <a:r>
              <a:rPr lang="pt-BR" sz="2800" i="1" dirty="0" err="1"/>
              <a:t>descricao</a:t>
            </a:r>
            <a:endParaRPr lang="pt-BR" sz="2800" dirty="0"/>
          </a:p>
          <a:p>
            <a:pPr marL="114300" indent="0">
              <a:buNone/>
            </a:pPr>
            <a:r>
              <a:rPr lang="pt-BR" sz="2800" b="1" i="1" dirty="0"/>
              <a:t>FROM</a:t>
            </a:r>
            <a:r>
              <a:rPr lang="pt-BR" sz="2800" i="1" dirty="0"/>
              <a:t> produto</a:t>
            </a:r>
            <a:endParaRPr lang="pt-BR" sz="2800" dirty="0"/>
          </a:p>
          <a:p>
            <a:pPr marL="114300" indent="0">
              <a:buNone/>
            </a:pPr>
            <a:r>
              <a:rPr lang="pt-BR" sz="2800" b="1" i="1" dirty="0"/>
              <a:t>WHERE</a:t>
            </a:r>
            <a:r>
              <a:rPr lang="pt-BR" sz="2800" i="1" dirty="0"/>
              <a:t> </a:t>
            </a:r>
            <a:r>
              <a:rPr lang="pt-BR" sz="2800" i="1" dirty="0" err="1"/>
              <a:t>val_unit</a:t>
            </a:r>
            <a:r>
              <a:rPr lang="pt-BR" sz="2800" i="1" dirty="0"/>
              <a:t> &gt;= 0.50</a:t>
            </a:r>
            <a:endParaRPr lang="pt-BR" sz="2800" dirty="0"/>
          </a:p>
          <a:p>
            <a:pPr marL="114300" indent="0">
              <a:buNone/>
            </a:pPr>
            <a:r>
              <a:rPr lang="pt-BR" sz="2800" b="1" i="1" dirty="0"/>
              <a:t>	AND</a:t>
            </a:r>
            <a:r>
              <a:rPr lang="pt-BR" sz="2800" i="1" dirty="0"/>
              <a:t> </a:t>
            </a:r>
            <a:r>
              <a:rPr lang="pt-BR" sz="2800" i="1" dirty="0" err="1"/>
              <a:t>val_unit</a:t>
            </a:r>
            <a:r>
              <a:rPr lang="pt-BR" sz="2800" i="1" dirty="0"/>
              <a:t> &lt;= 2.00 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5894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Mais Exemplos - AND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pt-BR" b="1" i="1" dirty="0"/>
              <a:t>SELECT</a:t>
            </a:r>
            <a:r>
              <a:rPr lang="pt-BR" i="1" dirty="0"/>
              <a:t> </a:t>
            </a:r>
            <a:r>
              <a:rPr lang="pt-BR" i="1" dirty="0" err="1"/>
              <a:t>nome_aluno</a:t>
            </a:r>
            <a:r>
              <a:rPr lang="pt-BR" i="1" dirty="0"/>
              <a:t>, </a:t>
            </a:r>
            <a:r>
              <a:rPr lang="pt-BR" i="1" dirty="0" err="1"/>
              <a:t>tel_aluno</a:t>
            </a:r>
            <a:endParaRPr lang="pt-BR" dirty="0"/>
          </a:p>
          <a:p>
            <a:pPr marL="114300" indent="0">
              <a:buNone/>
            </a:pPr>
            <a:r>
              <a:rPr lang="pt-BR" b="1" i="1" dirty="0"/>
              <a:t>FROM</a:t>
            </a:r>
            <a:r>
              <a:rPr lang="pt-BR" i="1" dirty="0"/>
              <a:t> </a:t>
            </a:r>
            <a:r>
              <a:rPr lang="pt-BR" i="1" dirty="0" err="1"/>
              <a:t>alu_aluno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WHERE</a:t>
            </a:r>
            <a:r>
              <a:rPr lang="pt-BR" i="1" dirty="0" smtClean="0"/>
              <a:t> </a:t>
            </a:r>
            <a:r>
              <a:rPr lang="pt-BR" i="1" dirty="0" err="1"/>
              <a:t>data_nasc_aluno</a:t>
            </a:r>
            <a:r>
              <a:rPr lang="pt-BR" i="1" dirty="0"/>
              <a:t> &gt;= '24/02/1981'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AND </a:t>
            </a:r>
            <a:r>
              <a:rPr lang="pt-BR" i="1" dirty="0" err="1" smtClean="0"/>
              <a:t>cidade_aluno</a:t>
            </a:r>
            <a:r>
              <a:rPr lang="pt-BR" i="1" dirty="0" smtClean="0"/>
              <a:t> = ‘Campinas’</a:t>
            </a:r>
          </a:p>
          <a:p>
            <a:pPr marL="114300" indent="0">
              <a:buNone/>
            </a:pPr>
            <a:endParaRPr lang="pt-BR" i="1" dirty="0"/>
          </a:p>
          <a:p>
            <a:pPr marL="114300" indent="0">
              <a:buNone/>
            </a:pPr>
            <a:r>
              <a:rPr lang="pt-BR" b="1" i="1" dirty="0"/>
              <a:t>SELECT</a:t>
            </a:r>
            <a:r>
              <a:rPr lang="pt-BR" i="1" dirty="0"/>
              <a:t> </a:t>
            </a:r>
            <a:r>
              <a:rPr lang="pt-BR" i="1" dirty="0" err="1"/>
              <a:t>nome_cliente</a:t>
            </a:r>
            <a:endParaRPr lang="pt-BR" dirty="0"/>
          </a:p>
          <a:p>
            <a:pPr marL="114300" indent="0">
              <a:buNone/>
            </a:pPr>
            <a:r>
              <a:rPr lang="pt-BR" b="1" i="1" dirty="0"/>
              <a:t>FROM</a:t>
            </a:r>
            <a:r>
              <a:rPr lang="pt-BR" i="1" dirty="0"/>
              <a:t> cliente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WHERE</a:t>
            </a:r>
            <a:r>
              <a:rPr lang="pt-BR" i="1" dirty="0" smtClean="0"/>
              <a:t> </a:t>
            </a:r>
            <a:r>
              <a:rPr lang="pt-BR" i="1" dirty="0"/>
              <a:t>cidade = 'Campinas'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AND</a:t>
            </a:r>
            <a:r>
              <a:rPr lang="pt-BR" i="1" dirty="0" smtClean="0"/>
              <a:t> cidade </a:t>
            </a:r>
            <a:r>
              <a:rPr lang="pt-BR" i="1" dirty="0"/>
              <a:t>= 'São Paulo';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582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Operador OR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000" dirty="0"/>
              <a:t>É usado para combinar várias condições em uma cláusula WHERE de uma instrução SQL.</a:t>
            </a:r>
          </a:p>
          <a:p>
            <a:pPr lvl="1"/>
            <a:r>
              <a:rPr lang="pt-BR" sz="1800" dirty="0"/>
              <a:t>Para que a instrução SQL execute uma ação, pelo menos uma das condições separadas por OR deve ser TRUE.</a:t>
            </a:r>
          </a:p>
          <a:p>
            <a:endParaRPr lang="pt-BR" sz="2000" dirty="0"/>
          </a:p>
          <a:p>
            <a:pPr marL="114300" indent="0">
              <a:buNone/>
            </a:pPr>
            <a:r>
              <a:rPr lang="pt-BR" sz="2000" b="1" dirty="0"/>
              <a:t>Exemplo: </a:t>
            </a:r>
            <a:r>
              <a:rPr lang="pt-BR" sz="2000" dirty="0"/>
              <a:t>Encontre todos os dados dos vendedores cujo salário seja 2780.00 ou 4600.00.</a:t>
            </a:r>
          </a:p>
          <a:p>
            <a:endParaRPr lang="pt-BR" sz="2000" dirty="0"/>
          </a:p>
          <a:p>
            <a:pPr lvl="1"/>
            <a:r>
              <a:rPr lang="pt-BR" b="1" i="1" dirty="0"/>
              <a:t>SELECT</a:t>
            </a:r>
            <a:r>
              <a:rPr lang="pt-BR" i="1" dirty="0"/>
              <a:t> </a:t>
            </a:r>
            <a:r>
              <a:rPr lang="pt-BR" i="1" dirty="0" err="1"/>
              <a:t>codigo_vendedor</a:t>
            </a:r>
            <a:r>
              <a:rPr lang="pt-BR" i="1" dirty="0"/>
              <a:t>, </a:t>
            </a:r>
            <a:r>
              <a:rPr lang="pt-BR" i="1" dirty="0" err="1"/>
              <a:t>nome_vendedor</a:t>
            </a:r>
            <a:r>
              <a:rPr lang="pt-BR" i="1" dirty="0"/>
              <a:t>, </a:t>
            </a:r>
            <a:r>
              <a:rPr lang="pt-BR" i="1" dirty="0" err="1"/>
              <a:t>salario_fixo</a:t>
            </a:r>
            <a:r>
              <a:rPr lang="pt-BR" i="1" dirty="0"/>
              <a:t>, </a:t>
            </a:r>
            <a:r>
              <a:rPr lang="pt-BR" i="1" dirty="0" err="1"/>
              <a:t>faixa_comissao</a:t>
            </a:r>
            <a:endParaRPr lang="pt-BR" dirty="0"/>
          </a:p>
          <a:p>
            <a:pPr lvl="1"/>
            <a:r>
              <a:rPr lang="pt-BR" b="1" i="1" dirty="0"/>
              <a:t>FROM</a:t>
            </a:r>
            <a:r>
              <a:rPr lang="pt-BR" i="1" dirty="0"/>
              <a:t> vendedor</a:t>
            </a:r>
            <a:endParaRPr lang="pt-BR" dirty="0"/>
          </a:p>
          <a:p>
            <a:pPr lvl="1"/>
            <a:r>
              <a:rPr lang="pt-BR" b="1" i="1" dirty="0" smtClean="0"/>
              <a:t>WHERE</a:t>
            </a:r>
            <a:r>
              <a:rPr lang="pt-BR" i="1" dirty="0" smtClean="0"/>
              <a:t> </a:t>
            </a:r>
            <a:r>
              <a:rPr lang="pt-BR" i="1" dirty="0" err="1"/>
              <a:t>salario_fixo</a:t>
            </a:r>
            <a:r>
              <a:rPr lang="pt-BR" i="1" dirty="0"/>
              <a:t> = 2780</a:t>
            </a:r>
            <a:endParaRPr lang="pt-BR" dirty="0"/>
          </a:p>
          <a:p>
            <a:pPr lvl="1"/>
            <a:r>
              <a:rPr lang="pt-BR" b="1" i="1" dirty="0" smtClean="0"/>
              <a:t>OR</a:t>
            </a:r>
            <a:r>
              <a:rPr lang="pt-BR" i="1" dirty="0" smtClean="0"/>
              <a:t> </a:t>
            </a:r>
            <a:r>
              <a:rPr lang="pt-BR" i="1" dirty="0" err="1"/>
              <a:t>salario_fixo</a:t>
            </a:r>
            <a:r>
              <a:rPr lang="pt-BR" i="1" dirty="0"/>
              <a:t> = 4600;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16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800" dirty="0"/>
              <a:t>Encontre a descrição, unidade e o valor unitário dos produtos de unidade ‘M’ e os valores unitários sejam 0.11 ou 1.8 ou 2.</a:t>
            </a:r>
          </a:p>
          <a:p>
            <a:endParaRPr lang="pt-BR" sz="2800" i="1" dirty="0"/>
          </a:p>
          <a:p>
            <a:pPr marL="114300" indent="0">
              <a:buNone/>
            </a:pPr>
            <a:r>
              <a:rPr lang="pt-BR" b="1" i="1" dirty="0" smtClean="0"/>
              <a:t>SELECT</a:t>
            </a:r>
            <a:r>
              <a:rPr lang="pt-BR" i="1" dirty="0" smtClean="0"/>
              <a:t> </a:t>
            </a:r>
            <a:r>
              <a:rPr lang="pt-BR" i="1" dirty="0"/>
              <a:t>unidade, </a:t>
            </a:r>
            <a:r>
              <a:rPr lang="pt-BR" i="1" dirty="0" err="1"/>
              <a:t>descricao</a:t>
            </a:r>
            <a:r>
              <a:rPr lang="pt-BR" i="1" dirty="0"/>
              <a:t>, </a:t>
            </a:r>
            <a:r>
              <a:rPr lang="pt-BR" i="1" dirty="0" err="1"/>
              <a:t>val_unit</a:t>
            </a:r>
            <a:endParaRPr lang="pt-BR" dirty="0"/>
          </a:p>
          <a:p>
            <a:pPr marL="114300" indent="0">
              <a:buNone/>
            </a:pPr>
            <a:r>
              <a:rPr lang="pt-BR" sz="2400" b="1" i="1" dirty="0"/>
              <a:t>FROM</a:t>
            </a:r>
            <a:r>
              <a:rPr lang="pt-BR" sz="2400" i="1" dirty="0"/>
              <a:t> produto</a:t>
            </a:r>
            <a:endParaRPr lang="pt-BR" sz="2400" dirty="0"/>
          </a:p>
          <a:p>
            <a:pPr marL="114300" indent="0">
              <a:buNone/>
            </a:pPr>
            <a:r>
              <a:rPr lang="pt-BR" b="1" i="1" dirty="0" smtClean="0"/>
              <a:t>WHERE</a:t>
            </a:r>
            <a:r>
              <a:rPr lang="pt-BR" i="1" dirty="0" smtClean="0"/>
              <a:t> </a:t>
            </a:r>
            <a:r>
              <a:rPr lang="pt-BR" i="1" dirty="0"/>
              <a:t>unidade = </a:t>
            </a:r>
            <a:r>
              <a:rPr lang="pt-BR" i="1" dirty="0" smtClean="0"/>
              <a:t>'M‘</a:t>
            </a:r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AND</a:t>
            </a:r>
            <a:r>
              <a:rPr lang="pt-BR" i="1" dirty="0" smtClean="0"/>
              <a:t> </a:t>
            </a:r>
            <a:r>
              <a:rPr lang="pt-BR" i="1" dirty="0"/>
              <a:t>(</a:t>
            </a:r>
            <a:r>
              <a:rPr lang="pt-BR" i="1" dirty="0" err="1"/>
              <a:t>val_unit</a:t>
            </a:r>
            <a:r>
              <a:rPr lang="pt-BR" i="1" dirty="0"/>
              <a:t> = 0.11</a:t>
            </a:r>
            <a:endParaRPr lang="pt-BR" dirty="0"/>
          </a:p>
          <a:p>
            <a:pPr marL="114300" indent="0">
              <a:buNone/>
            </a:pPr>
            <a:r>
              <a:rPr lang="pt-BR" sz="2400" b="1" i="1" dirty="0"/>
              <a:t>OR</a:t>
            </a:r>
            <a:r>
              <a:rPr lang="pt-BR" sz="2400" i="1" dirty="0"/>
              <a:t> </a:t>
            </a:r>
            <a:r>
              <a:rPr lang="pt-BR" sz="2400" i="1" dirty="0" err="1"/>
              <a:t>val_unit</a:t>
            </a:r>
            <a:r>
              <a:rPr lang="pt-BR" sz="2400" i="1" dirty="0"/>
              <a:t> = 1.8</a:t>
            </a:r>
            <a:endParaRPr lang="pt-BR" sz="2400" dirty="0"/>
          </a:p>
          <a:p>
            <a:pPr marL="114300" indent="0">
              <a:buNone/>
            </a:pPr>
            <a:r>
              <a:rPr lang="pt-BR" sz="2400" b="1" i="1" dirty="0"/>
              <a:t>OR</a:t>
            </a:r>
            <a:r>
              <a:rPr lang="pt-BR" sz="2400" i="1" dirty="0"/>
              <a:t> </a:t>
            </a:r>
            <a:r>
              <a:rPr lang="pt-BR" sz="2400" i="1" dirty="0" err="1"/>
              <a:t>val_unit</a:t>
            </a:r>
            <a:r>
              <a:rPr lang="pt-BR" sz="2400" i="1" dirty="0"/>
              <a:t> = 2);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813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Distinguindo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19535" y="1412776"/>
            <a:ext cx="9776075" cy="4800600"/>
          </a:xfrm>
        </p:spPr>
        <p:txBody>
          <a:bodyPr>
            <a:normAutofit lnSpcReduction="10000"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Comando DISTINCT: Elimina linha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repetidas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6288" lvl="2" indent="0">
              <a:buNone/>
            </a:pP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nome_cliente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76288" lvl="2" indent="0">
              <a:buNone/>
            </a:pP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cliente;</a:t>
            </a:r>
          </a:p>
          <a:p>
            <a:pPr lvl="1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Utilização: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Quando há dados repetidos em uma base de dados</a:t>
            </a:r>
          </a:p>
          <a:p>
            <a:pPr lvl="1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Observação: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Pode se distinguir uma pesquisa em mais de um campo.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: Nome e Endereço.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1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Operador Aritméticos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2400" dirty="0"/>
              <a:t>São usados para executar funções matemáticas em SQL.</a:t>
            </a:r>
          </a:p>
          <a:p>
            <a:r>
              <a:rPr lang="pt-BR" sz="2400" dirty="0"/>
              <a:t>Existem 4 operadores aritméticos:</a:t>
            </a:r>
          </a:p>
          <a:p>
            <a:pPr lvl="1"/>
            <a:r>
              <a:rPr lang="pt-BR" dirty="0" smtClean="0"/>
              <a:t>+ </a:t>
            </a:r>
            <a:r>
              <a:rPr lang="pt-BR" dirty="0"/>
              <a:t>(adição), - (subtração), * (multiplicação), / (</a:t>
            </a:r>
            <a:r>
              <a:rPr lang="pt-BR" dirty="0" smtClean="0"/>
              <a:t>divisão)</a:t>
            </a:r>
          </a:p>
          <a:p>
            <a:endParaRPr lang="pt-BR" sz="2400" dirty="0"/>
          </a:p>
          <a:p>
            <a:pPr marL="114300" indent="0">
              <a:buNone/>
            </a:pPr>
            <a:r>
              <a:rPr lang="pt-BR" sz="2400" dirty="0"/>
              <a:t>Exemplo:</a:t>
            </a:r>
          </a:p>
          <a:p>
            <a:pPr marL="114300" indent="0">
              <a:buNone/>
            </a:pPr>
            <a:endParaRPr lang="pt-BR" sz="2400" dirty="0"/>
          </a:p>
          <a:p>
            <a:pPr marL="114300" indent="0">
              <a:buNone/>
            </a:pPr>
            <a:r>
              <a:rPr lang="pt-BR" sz="2400" b="1" i="1" dirty="0"/>
              <a:t>SELECT</a:t>
            </a:r>
            <a:r>
              <a:rPr lang="pt-BR" sz="2400" i="1" dirty="0"/>
              <a:t> </a:t>
            </a:r>
            <a:r>
              <a:rPr lang="pt-BR" sz="2400" i="1" dirty="0" err="1"/>
              <a:t>salario_fixo</a:t>
            </a:r>
            <a:r>
              <a:rPr lang="pt-BR" sz="2400" i="1" dirty="0"/>
              <a:t> * 1.1</a:t>
            </a:r>
            <a:endParaRPr lang="pt-BR" sz="2400" dirty="0"/>
          </a:p>
          <a:p>
            <a:pPr marL="114300" indent="0">
              <a:buNone/>
            </a:pPr>
            <a:r>
              <a:rPr lang="pt-BR" sz="2400" b="1" i="1" dirty="0"/>
              <a:t>FROM</a:t>
            </a:r>
            <a:r>
              <a:rPr lang="pt-BR" sz="2400" i="1" dirty="0"/>
              <a:t> vendedor;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6153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Operador Aritméticos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7859216" cy="4800600"/>
          </a:xfrm>
        </p:spPr>
        <p:txBody>
          <a:bodyPr>
            <a:normAutofit lnSpcReduction="10000"/>
          </a:bodyPr>
          <a:lstStyle/>
          <a:p>
            <a:r>
              <a:rPr lang="pt-BR" i="1" dirty="0" smtClean="0"/>
              <a:t>Simule </a:t>
            </a:r>
            <a:r>
              <a:rPr lang="pt-BR" i="1" dirty="0"/>
              <a:t>um aumento de 25% nos produtos </a:t>
            </a:r>
            <a:r>
              <a:rPr lang="pt-BR" i="1" dirty="0" smtClean="0"/>
              <a:t>.</a:t>
            </a:r>
          </a:p>
          <a:p>
            <a:endParaRPr lang="pt-BR" dirty="0"/>
          </a:p>
          <a:p>
            <a:pPr marL="114300" indent="0">
              <a:buNone/>
            </a:pPr>
            <a:r>
              <a:rPr lang="pt-BR" b="1" i="1" dirty="0" smtClean="0"/>
              <a:t>SELECT</a:t>
            </a:r>
            <a:r>
              <a:rPr lang="pt-BR" i="1" dirty="0" smtClean="0"/>
              <a:t> </a:t>
            </a:r>
            <a:r>
              <a:rPr lang="pt-BR" i="1" dirty="0" err="1" smtClean="0"/>
              <a:t>descricao</a:t>
            </a:r>
            <a:r>
              <a:rPr lang="pt-BR" i="1" dirty="0" smtClean="0"/>
              <a:t>, unidade, </a:t>
            </a:r>
            <a:r>
              <a:rPr lang="pt-BR" i="1" dirty="0" err="1" smtClean="0"/>
              <a:t>val_unit</a:t>
            </a:r>
            <a:r>
              <a:rPr lang="pt-BR" i="1" dirty="0" smtClean="0"/>
              <a:t> as "Preço Atual",</a:t>
            </a:r>
            <a:endParaRPr lang="pt-BR" dirty="0" smtClean="0"/>
          </a:p>
          <a:p>
            <a:pPr marL="114300" indent="0">
              <a:buNone/>
            </a:pPr>
            <a:r>
              <a:rPr lang="pt-BR" i="1" dirty="0" err="1" smtClean="0"/>
              <a:t>val_unit</a:t>
            </a:r>
            <a:r>
              <a:rPr lang="pt-BR" i="1" dirty="0" smtClean="0"/>
              <a:t>*1.25 as "Preço com Aumento"</a:t>
            </a:r>
            <a:endParaRPr lang="pt-BR" dirty="0" smtClean="0"/>
          </a:p>
          <a:p>
            <a:pPr marL="114300" indent="0">
              <a:buNone/>
            </a:pPr>
            <a:r>
              <a:rPr lang="pt-BR" b="1" i="1" dirty="0" smtClean="0"/>
              <a:t>FROM</a:t>
            </a:r>
            <a:r>
              <a:rPr lang="pt-BR" i="1" dirty="0" smtClean="0"/>
              <a:t> produto;</a:t>
            </a:r>
          </a:p>
          <a:p>
            <a:endParaRPr lang="pt-BR" sz="2400" dirty="0"/>
          </a:p>
          <a:p>
            <a:r>
              <a:rPr lang="pt-BR" i="1" dirty="0"/>
              <a:t>Simule um desconto de 12% nos produtos cuja unidade seja ‘</a:t>
            </a:r>
            <a:r>
              <a:rPr lang="pt-BR" i="1" dirty="0" smtClean="0"/>
              <a:t>M’.</a:t>
            </a:r>
          </a:p>
          <a:p>
            <a:endParaRPr lang="pt-BR" sz="2000" dirty="0"/>
          </a:p>
          <a:p>
            <a:pPr marL="114300" indent="0">
              <a:buNone/>
            </a:pPr>
            <a:r>
              <a:rPr lang="pt-BR" b="1" i="1" dirty="0" smtClean="0"/>
              <a:t>SELECT</a:t>
            </a:r>
            <a:r>
              <a:rPr lang="pt-BR" i="1" dirty="0" smtClean="0"/>
              <a:t> </a:t>
            </a:r>
            <a:r>
              <a:rPr lang="pt-BR" i="1" dirty="0" err="1" smtClean="0"/>
              <a:t>descricao</a:t>
            </a:r>
            <a:r>
              <a:rPr lang="pt-BR" i="1" dirty="0" smtClean="0"/>
              <a:t>, unidade, </a:t>
            </a:r>
            <a:r>
              <a:rPr lang="pt-BR" i="1" dirty="0" err="1" smtClean="0"/>
              <a:t>val_unit</a:t>
            </a:r>
            <a:r>
              <a:rPr lang="pt-BR" i="1" dirty="0" smtClean="0"/>
              <a:t> as "Preço Atual", </a:t>
            </a:r>
          </a:p>
          <a:p>
            <a:pPr marL="114300" indent="0">
              <a:buNone/>
            </a:pPr>
            <a:r>
              <a:rPr lang="pt-BR" i="1" dirty="0" err="1" smtClean="0"/>
              <a:t>val_unit</a:t>
            </a:r>
            <a:r>
              <a:rPr lang="pt-BR" i="1" dirty="0" smtClean="0"/>
              <a:t> - (</a:t>
            </a:r>
            <a:r>
              <a:rPr lang="pt-BR" i="1" dirty="0" err="1" smtClean="0"/>
              <a:t>val_unit</a:t>
            </a:r>
            <a:r>
              <a:rPr lang="pt-BR" i="1" dirty="0" smtClean="0"/>
              <a:t>*0.12) as "Preço com Desconto"</a:t>
            </a:r>
            <a:endParaRPr lang="pt-BR" dirty="0" smtClean="0"/>
          </a:p>
          <a:p>
            <a:pPr marL="114300" indent="0">
              <a:buNone/>
            </a:pPr>
            <a:r>
              <a:rPr lang="pt-BR" sz="2400" b="1" i="1" dirty="0"/>
              <a:t>FROM</a:t>
            </a:r>
            <a:r>
              <a:rPr lang="pt-BR" sz="2400" i="1" dirty="0"/>
              <a:t> produto</a:t>
            </a:r>
            <a:endParaRPr lang="pt-BR" sz="2400" dirty="0"/>
          </a:p>
          <a:p>
            <a:pPr marL="114300" indent="0">
              <a:buNone/>
            </a:pPr>
            <a:r>
              <a:rPr lang="pt-BR" sz="2400" b="1" i="1" dirty="0"/>
              <a:t>WHERE</a:t>
            </a:r>
            <a:r>
              <a:rPr lang="pt-BR" sz="2400" i="1" dirty="0"/>
              <a:t> unidade = ‘M’;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683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Operador </a:t>
            </a:r>
            <a:r>
              <a:rPr lang="pt-BR" dirty="0" err="1"/>
              <a:t>Between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2400" dirty="0"/>
              <a:t>Propicia a pesquisa por uma determinada coluna selecionando as linhas cujo valor da coluna esteja dentro de uma faixa.</a:t>
            </a:r>
          </a:p>
          <a:p>
            <a:endParaRPr lang="pt-BR" sz="2000" dirty="0"/>
          </a:p>
          <a:p>
            <a:pPr marL="114300" indent="0">
              <a:buNone/>
            </a:pPr>
            <a:r>
              <a:rPr lang="pt-BR" sz="2000" b="1" i="1" dirty="0"/>
              <a:t>Exemplo:</a:t>
            </a:r>
          </a:p>
          <a:p>
            <a:pPr marL="114300" indent="0">
              <a:buNone/>
            </a:pPr>
            <a:r>
              <a:rPr lang="pt-BR" sz="2000" b="1" dirty="0"/>
              <a:t>SELECT</a:t>
            </a:r>
            <a:r>
              <a:rPr lang="pt-BR" sz="2000" dirty="0"/>
              <a:t> *</a:t>
            </a:r>
          </a:p>
          <a:p>
            <a:pPr marL="114300" indent="0">
              <a:buNone/>
            </a:pPr>
            <a:r>
              <a:rPr lang="pt-BR" sz="2000" b="1" dirty="0"/>
              <a:t>FROM</a:t>
            </a:r>
            <a:r>
              <a:rPr lang="pt-BR" sz="2000" dirty="0"/>
              <a:t> vendedor</a:t>
            </a:r>
          </a:p>
          <a:p>
            <a:pPr marL="114300" indent="0">
              <a:buNone/>
            </a:pPr>
            <a:r>
              <a:rPr lang="en-US" sz="2000" b="1" dirty="0"/>
              <a:t>WHERE</a:t>
            </a:r>
            <a:r>
              <a:rPr lang="en-US" sz="2000" dirty="0"/>
              <a:t> </a:t>
            </a:r>
            <a:r>
              <a:rPr lang="en-US" sz="2000" dirty="0" err="1"/>
              <a:t>salario_fixo</a:t>
            </a:r>
            <a:r>
              <a:rPr lang="en-US" sz="2000" dirty="0"/>
              <a:t> </a:t>
            </a:r>
            <a:r>
              <a:rPr lang="en-US" sz="2000" b="1" dirty="0"/>
              <a:t>BETWEEN</a:t>
            </a:r>
            <a:r>
              <a:rPr lang="en-US" sz="2000" dirty="0"/>
              <a:t> 2000 </a:t>
            </a:r>
            <a:r>
              <a:rPr lang="en-US" sz="2000" b="1" dirty="0"/>
              <a:t>AND</a:t>
            </a:r>
            <a:r>
              <a:rPr lang="en-US" sz="2000" dirty="0"/>
              <a:t> 3000;</a:t>
            </a:r>
          </a:p>
          <a:p>
            <a:pPr marL="114300" indent="0">
              <a:buNone/>
            </a:pPr>
            <a:endParaRPr lang="pt-BR" sz="2000" dirty="0"/>
          </a:p>
          <a:p>
            <a:pPr marL="114300" indent="0">
              <a:buNone/>
            </a:pPr>
            <a:r>
              <a:rPr lang="pt-BR" sz="2000" b="1" i="1" dirty="0"/>
              <a:t>Exemplo:</a:t>
            </a:r>
          </a:p>
          <a:p>
            <a:pPr marL="114300" indent="0">
              <a:buNone/>
            </a:pPr>
            <a:r>
              <a:rPr lang="pt-BR" sz="2000" b="1" dirty="0"/>
              <a:t>SELECT</a:t>
            </a:r>
            <a:r>
              <a:rPr lang="pt-BR" sz="2000" dirty="0"/>
              <a:t> *</a:t>
            </a:r>
          </a:p>
          <a:p>
            <a:pPr marL="114300" indent="0">
              <a:buNone/>
            </a:pPr>
            <a:r>
              <a:rPr lang="pt-BR" sz="2000" b="1" dirty="0"/>
              <a:t>FROM</a:t>
            </a:r>
            <a:r>
              <a:rPr lang="pt-BR" sz="2000" dirty="0"/>
              <a:t> vendedor</a:t>
            </a:r>
          </a:p>
          <a:p>
            <a:pPr marL="114300" indent="0">
              <a:buNone/>
            </a:pPr>
            <a:r>
              <a:rPr lang="en-US" sz="2000" b="1" dirty="0"/>
              <a:t>WHERE</a:t>
            </a:r>
            <a:r>
              <a:rPr lang="en-US" sz="2000" dirty="0"/>
              <a:t> </a:t>
            </a:r>
            <a:r>
              <a:rPr lang="en-US" sz="2000" dirty="0" err="1"/>
              <a:t>salario_fixo</a:t>
            </a:r>
            <a:r>
              <a:rPr lang="en-US" sz="2000" dirty="0"/>
              <a:t> </a:t>
            </a:r>
            <a:r>
              <a:rPr lang="en-US" sz="2000" b="1" dirty="0"/>
              <a:t>BETWEEN</a:t>
            </a:r>
            <a:r>
              <a:rPr lang="en-US" sz="2000" dirty="0"/>
              <a:t> 3000 </a:t>
            </a:r>
            <a:r>
              <a:rPr lang="en-US" sz="2000" b="1" dirty="0"/>
              <a:t>AND</a:t>
            </a:r>
            <a:r>
              <a:rPr lang="en-US" sz="2000" dirty="0"/>
              <a:t> 2000;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316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 </a:t>
            </a:r>
            <a:r>
              <a:rPr lang="pt-BR" dirty="0" err="1" smtClean="0"/>
              <a:t>Between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75520" y="1600200"/>
            <a:ext cx="8136904" cy="4800600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Listar o código, descrição e o valor unitário dos produtos que tenham o valor unitário na faixa de R$ 0.32 até R$ 2.00.</a:t>
            </a:r>
          </a:p>
          <a:p>
            <a:pPr marL="114300" indent="0">
              <a:buNone/>
            </a:pPr>
            <a:r>
              <a:rPr lang="pt-BR" b="1" dirty="0"/>
              <a:t>SELECT</a:t>
            </a:r>
            <a:r>
              <a:rPr lang="pt-BR" dirty="0"/>
              <a:t> </a:t>
            </a:r>
            <a:r>
              <a:rPr lang="pt-BR" dirty="0" err="1"/>
              <a:t>codigo_produto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 smtClean="0"/>
              <a:t>val_unit</a:t>
            </a:r>
            <a:endParaRPr lang="pt-BR" dirty="0"/>
          </a:p>
          <a:p>
            <a:pPr marL="114300" indent="0">
              <a:buNone/>
            </a:pPr>
            <a:r>
              <a:rPr lang="pt-BR" b="1" dirty="0" smtClean="0"/>
              <a:t>FROM</a:t>
            </a:r>
            <a:r>
              <a:rPr lang="pt-BR" dirty="0" smtClean="0"/>
              <a:t> </a:t>
            </a:r>
            <a:r>
              <a:rPr lang="pt-BR" dirty="0"/>
              <a:t>produto</a:t>
            </a:r>
          </a:p>
          <a:p>
            <a:pPr marL="114300" indent="0">
              <a:buNone/>
            </a:pPr>
            <a:r>
              <a:rPr lang="en-US" b="1" dirty="0" smtClean="0"/>
              <a:t>WHERE</a:t>
            </a:r>
            <a:r>
              <a:rPr lang="en-US" dirty="0" smtClean="0"/>
              <a:t> </a:t>
            </a:r>
            <a:r>
              <a:rPr lang="en-US" dirty="0" err="1"/>
              <a:t>val_unit</a:t>
            </a:r>
            <a:r>
              <a:rPr lang="en-US" dirty="0"/>
              <a:t> </a:t>
            </a:r>
            <a:r>
              <a:rPr lang="en-US" b="1" dirty="0" smtClean="0"/>
              <a:t>BETWEEN</a:t>
            </a:r>
            <a:r>
              <a:rPr lang="en-US" dirty="0" smtClean="0"/>
              <a:t> </a:t>
            </a:r>
            <a:r>
              <a:rPr lang="en-US" dirty="0"/>
              <a:t>0.32 </a:t>
            </a:r>
            <a:r>
              <a:rPr lang="en-US" b="1" dirty="0" smtClean="0"/>
              <a:t>AND</a:t>
            </a:r>
            <a:r>
              <a:rPr lang="en-US" dirty="0" smtClean="0"/>
              <a:t> </a:t>
            </a:r>
            <a:r>
              <a:rPr lang="en-US" dirty="0"/>
              <a:t>2</a:t>
            </a:r>
            <a:r>
              <a:rPr lang="en-US" dirty="0" smtClean="0"/>
              <a:t>;</a:t>
            </a:r>
          </a:p>
          <a:p>
            <a:pPr lvl="1"/>
            <a:endParaRPr lang="en-US" dirty="0"/>
          </a:p>
          <a:p>
            <a:r>
              <a:rPr lang="pt-BR" sz="2400" dirty="0"/>
              <a:t>Encontre o RA, nome e data de nascimento dos alunos nascidos entre 01/02/1980 a 30/10/1990</a:t>
            </a:r>
          </a:p>
          <a:p>
            <a:pPr marL="114300" indent="0">
              <a:buNone/>
            </a:pPr>
            <a:r>
              <a:rPr lang="pt-BR" b="1" dirty="0" smtClean="0"/>
              <a:t>SELECT</a:t>
            </a:r>
            <a:r>
              <a:rPr lang="pt-BR" dirty="0" smtClean="0"/>
              <a:t> </a:t>
            </a:r>
            <a:r>
              <a:rPr lang="pt-BR" dirty="0"/>
              <a:t>matricula,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data_nasc_aluno</a:t>
            </a:r>
            <a:endParaRPr lang="pt-BR" dirty="0"/>
          </a:p>
          <a:p>
            <a:pPr marL="114300" indent="0">
              <a:buNone/>
            </a:pPr>
            <a:r>
              <a:rPr lang="pt-BR" b="1" dirty="0"/>
              <a:t>FROM</a:t>
            </a:r>
            <a:r>
              <a:rPr lang="pt-BR" dirty="0"/>
              <a:t> </a:t>
            </a:r>
            <a:r>
              <a:rPr lang="pt-BR" dirty="0" err="1" smtClean="0"/>
              <a:t>alu_aluno</a:t>
            </a:r>
            <a:endParaRPr lang="pt-BR" dirty="0"/>
          </a:p>
          <a:p>
            <a:pPr marL="114300" indent="0">
              <a:buNone/>
            </a:pPr>
            <a:r>
              <a:rPr lang="en-US" b="1" dirty="0" smtClean="0"/>
              <a:t>WHERE</a:t>
            </a:r>
            <a:r>
              <a:rPr lang="en-US" dirty="0" smtClean="0"/>
              <a:t> </a:t>
            </a:r>
            <a:r>
              <a:rPr lang="en-US" dirty="0" err="1"/>
              <a:t>data_nasc_aluno</a:t>
            </a:r>
            <a:r>
              <a:rPr lang="en-US" dirty="0"/>
              <a:t> </a:t>
            </a:r>
            <a:r>
              <a:rPr lang="en-US" b="1" dirty="0" smtClean="0"/>
              <a:t>BETWEEN</a:t>
            </a:r>
            <a:r>
              <a:rPr lang="en-US" dirty="0" smtClean="0"/>
              <a:t> </a:t>
            </a:r>
            <a:r>
              <a:rPr lang="en-US" dirty="0"/>
              <a:t>'01/02/1980' </a:t>
            </a:r>
            <a:r>
              <a:rPr lang="en-US" b="1" dirty="0" smtClean="0"/>
              <a:t>AND</a:t>
            </a:r>
            <a:r>
              <a:rPr lang="en-US" dirty="0" smtClean="0"/>
              <a:t> </a:t>
            </a:r>
            <a:r>
              <a:rPr lang="en-US" dirty="0"/>
              <a:t>'30/10/1990‘;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062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106</TotalTime>
  <Words>843</Words>
  <Application>Microsoft Office PowerPoint</Application>
  <PresentationFormat>Widescreen</PresentationFormat>
  <Paragraphs>184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Times New Roman</vt:lpstr>
      <vt:lpstr>Wingdings</vt:lpstr>
      <vt:lpstr>Wingdings 3</vt:lpstr>
      <vt:lpstr>Cacho</vt:lpstr>
      <vt:lpstr>CONSULTANDO DADOS</vt:lpstr>
      <vt:lpstr>Consultando Dados</vt:lpstr>
      <vt:lpstr>Consultando Dados</vt:lpstr>
      <vt:lpstr>Comando Select</vt:lpstr>
      <vt:lpstr>Ordenando Dados</vt:lpstr>
      <vt:lpstr>Ordenando mais de um Dados</vt:lpstr>
      <vt:lpstr>Filtrando Dados</vt:lpstr>
      <vt:lpstr>Filtrando Dados</vt:lpstr>
      <vt:lpstr>Filtrando e Ordenando Dados</vt:lpstr>
      <vt:lpstr>Filtrando e Ordenando Dados</vt:lpstr>
      <vt:lpstr>Condições</vt:lpstr>
      <vt:lpstr>Mais Exemplos</vt:lpstr>
      <vt:lpstr> Operador AND </vt:lpstr>
      <vt:lpstr> Mais Exemplos - AND </vt:lpstr>
      <vt:lpstr> Operador OR </vt:lpstr>
      <vt:lpstr>Exercício</vt:lpstr>
      <vt:lpstr>Distinguindo Dados</vt:lpstr>
      <vt:lpstr> Operador Aritméticos </vt:lpstr>
      <vt:lpstr>Operador Aritméticos</vt:lpstr>
      <vt:lpstr> Operador Between </vt:lpstr>
      <vt:lpstr>Exemplos Between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CONSULTANDO DADOS</dc:title>
  <dc:creator>MORAIS</dc:creator>
  <cp:lastModifiedBy>cliente</cp:lastModifiedBy>
  <cp:revision>4</cp:revision>
  <dcterms:created xsi:type="dcterms:W3CDTF">2020-03-25T18:34:41Z</dcterms:created>
  <dcterms:modified xsi:type="dcterms:W3CDTF">2024-03-13T22:52:28Z</dcterms:modified>
</cp:coreProperties>
</file>