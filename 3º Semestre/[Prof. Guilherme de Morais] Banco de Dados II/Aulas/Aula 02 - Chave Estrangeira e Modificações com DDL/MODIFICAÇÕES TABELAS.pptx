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84" d="100"/>
          <a:sy n="84" d="100"/>
        </p:scale>
        <p:origin x="54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 smtClean="0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11/13/2024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11/13/2024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11/13/2024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 smtClean="0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pt-BR" smtClean="0"/>
              <a:t>Clique para editar o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o 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pt-BR" smtClean="0"/>
              <a:t>Clique para editar o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iro ou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pt-BR" smtClean="0"/>
              <a:t>Clique para editar o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11/13/2024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58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 smtClean="0"/>
              <a:t>MODIFICAÇÕES TABELAS</a:t>
            </a:r>
            <a:endParaRPr lang="pt-BR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 smtClean="0"/>
              <a:t>Guilherme de Morais.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038170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38649" y="624110"/>
            <a:ext cx="9765964" cy="1280890"/>
          </a:xfrm>
        </p:spPr>
        <p:txBody>
          <a:bodyPr/>
          <a:lstStyle/>
          <a:p>
            <a:pPr algn="ctr"/>
            <a:r>
              <a:rPr lang="pt-BR" b="1" dirty="0"/>
              <a:t>Adicionar coluna</a:t>
            </a:r>
            <a:br>
              <a:rPr lang="pt-BR" b="1" dirty="0"/>
            </a:b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738648" y="2133600"/>
            <a:ext cx="9765963" cy="4447504"/>
          </a:xfrm>
        </p:spPr>
        <p:txBody>
          <a:bodyPr/>
          <a:lstStyle/>
          <a:p>
            <a:r>
              <a:rPr lang="pt-BR" dirty="0"/>
              <a:t>Para adicionar uma coluna, utiliza-se</a:t>
            </a:r>
            <a:r>
              <a:rPr lang="pt-BR" dirty="0" smtClean="0"/>
              <a:t>:</a:t>
            </a:r>
          </a:p>
          <a:p>
            <a:endParaRPr lang="pt-BR" dirty="0"/>
          </a:p>
          <a:p>
            <a:endParaRPr lang="pt-BR" dirty="0" smtClean="0"/>
          </a:p>
          <a:p>
            <a:endParaRPr lang="pt-BR" dirty="0"/>
          </a:p>
          <a:p>
            <a:endParaRPr lang="pt-BR" dirty="0"/>
          </a:p>
          <a:p>
            <a:r>
              <a:rPr lang="pt-BR" dirty="0"/>
              <a:t>ALTER TABLE produtos ADD COLUMN </a:t>
            </a:r>
            <a:r>
              <a:rPr lang="pt-BR" dirty="0" err="1"/>
              <a:t>descricao</a:t>
            </a:r>
            <a:r>
              <a:rPr lang="pt-BR" dirty="0"/>
              <a:t> </a:t>
            </a:r>
            <a:r>
              <a:rPr lang="pt-BR" dirty="0" err="1"/>
              <a:t>text</a:t>
            </a:r>
            <a:r>
              <a:rPr lang="pt-BR" dirty="0" smtClean="0"/>
              <a:t>;</a:t>
            </a:r>
          </a:p>
          <a:p>
            <a:endParaRPr lang="pt-BR" dirty="0"/>
          </a:p>
        </p:txBody>
      </p:sp>
      <p:sp>
        <p:nvSpPr>
          <p:cNvPr id="4" name="Texto Explicativo 1 3"/>
          <p:cNvSpPr/>
          <p:nvPr/>
        </p:nvSpPr>
        <p:spPr>
          <a:xfrm>
            <a:off x="4662153" y="2575775"/>
            <a:ext cx="2318196" cy="772732"/>
          </a:xfrm>
          <a:prstGeom prst="borderCallout1">
            <a:avLst>
              <a:gd name="adj1" fmla="val 57083"/>
              <a:gd name="adj2" fmla="val 0"/>
              <a:gd name="adj3" fmla="val 227500"/>
              <a:gd name="adj4" fmla="val -29444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/>
              <a:t>Nome da tabela</a:t>
            </a:r>
            <a:endParaRPr lang="pt-BR" dirty="0"/>
          </a:p>
        </p:txBody>
      </p:sp>
      <p:sp>
        <p:nvSpPr>
          <p:cNvPr id="5" name="Texto Explicativo 1 4"/>
          <p:cNvSpPr/>
          <p:nvPr/>
        </p:nvSpPr>
        <p:spPr>
          <a:xfrm>
            <a:off x="7585658" y="2457719"/>
            <a:ext cx="2318196" cy="772732"/>
          </a:xfrm>
          <a:prstGeom prst="borderCallout1">
            <a:avLst>
              <a:gd name="adj1" fmla="val 57083"/>
              <a:gd name="adj2" fmla="val 0"/>
              <a:gd name="adj3" fmla="val 227500"/>
              <a:gd name="adj4" fmla="val -29444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/>
              <a:t>Nome da coluna</a:t>
            </a:r>
            <a:endParaRPr lang="pt-BR" dirty="0"/>
          </a:p>
        </p:txBody>
      </p:sp>
      <p:sp>
        <p:nvSpPr>
          <p:cNvPr id="6" name="Texto Explicativo 1 5"/>
          <p:cNvSpPr/>
          <p:nvPr/>
        </p:nvSpPr>
        <p:spPr>
          <a:xfrm>
            <a:off x="8190964" y="5189113"/>
            <a:ext cx="2318196" cy="772732"/>
          </a:xfrm>
          <a:prstGeom prst="borderCallout1">
            <a:avLst>
              <a:gd name="adj1" fmla="val 57083"/>
              <a:gd name="adj2" fmla="val 0"/>
              <a:gd name="adj3" fmla="val -115833"/>
              <a:gd name="adj4" fmla="val -24444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/>
              <a:t>Tipo de dados, tamanho e restrição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623326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38649" y="624110"/>
            <a:ext cx="9765964" cy="1280890"/>
          </a:xfrm>
        </p:spPr>
        <p:txBody>
          <a:bodyPr/>
          <a:lstStyle/>
          <a:p>
            <a:pPr algn="ctr"/>
            <a:r>
              <a:rPr lang="pt-BR" b="1" dirty="0"/>
              <a:t>Remover coluna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738648" y="2133600"/>
            <a:ext cx="9765963" cy="4447504"/>
          </a:xfrm>
        </p:spPr>
        <p:txBody>
          <a:bodyPr/>
          <a:lstStyle/>
          <a:p>
            <a:r>
              <a:rPr lang="pt-BR" dirty="0" smtClean="0"/>
              <a:t>Para remover uma coluna, utiliza-se:</a:t>
            </a:r>
          </a:p>
          <a:p>
            <a:endParaRPr lang="pt-BR" dirty="0" smtClean="0"/>
          </a:p>
          <a:p>
            <a:endParaRPr lang="pt-BR" dirty="0" smtClean="0"/>
          </a:p>
          <a:p>
            <a:endParaRPr lang="pt-BR" dirty="0" smtClean="0"/>
          </a:p>
          <a:p>
            <a:endParaRPr lang="pt-BR" dirty="0" smtClean="0"/>
          </a:p>
          <a:p>
            <a:r>
              <a:rPr lang="pt-BR" dirty="0" smtClean="0"/>
              <a:t>ALTER TABLE produtos DROP COLUMN </a:t>
            </a:r>
            <a:r>
              <a:rPr lang="pt-BR" dirty="0" err="1" smtClean="0"/>
              <a:t>descricao</a:t>
            </a:r>
            <a:r>
              <a:rPr lang="pt-BR" dirty="0" smtClean="0"/>
              <a:t>;</a:t>
            </a:r>
            <a:endParaRPr lang="pt-BR" dirty="0"/>
          </a:p>
        </p:txBody>
      </p:sp>
      <p:sp>
        <p:nvSpPr>
          <p:cNvPr id="4" name="Texto Explicativo 1 3"/>
          <p:cNvSpPr/>
          <p:nvPr/>
        </p:nvSpPr>
        <p:spPr>
          <a:xfrm>
            <a:off x="4584880" y="2457719"/>
            <a:ext cx="2318196" cy="772732"/>
          </a:xfrm>
          <a:prstGeom prst="borderCallout1">
            <a:avLst>
              <a:gd name="adj1" fmla="val 57083"/>
              <a:gd name="adj2" fmla="val 0"/>
              <a:gd name="adj3" fmla="val 227500"/>
              <a:gd name="adj4" fmla="val -29444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/>
              <a:t>Nome da tabela</a:t>
            </a:r>
            <a:endParaRPr lang="pt-BR" dirty="0"/>
          </a:p>
        </p:txBody>
      </p:sp>
      <p:sp>
        <p:nvSpPr>
          <p:cNvPr id="5" name="Texto Explicativo 1 4"/>
          <p:cNvSpPr/>
          <p:nvPr/>
        </p:nvSpPr>
        <p:spPr>
          <a:xfrm>
            <a:off x="7585658" y="2457719"/>
            <a:ext cx="2318196" cy="772732"/>
          </a:xfrm>
          <a:prstGeom prst="borderCallout1">
            <a:avLst>
              <a:gd name="adj1" fmla="val 57083"/>
              <a:gd name="adj2" fmla="val 0"/>
              <a:gd name="adj3" fmla="val 227500"/>
              <a:gd name="adj4" fmla="val -29444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/>
              <a:t>Nome da coluna</a:t>
            </a:r>
            <a:endParaRPr lang="pt-BR" dirty="0"/>
          </a:p>
        </p:txBody>
      </p:sp>
      <p:sp>
        <p:nvSpPr>
          <p:cNvPr id="6" name="Texto Explicativo 1 5"/>
          <p:cNvSpPr/>
          <p:nvPr/>
        </p:nvSpPr>
        <p:spPr>
          <a:xfrm>
            <a:off x="8190964" y="5189113"/>
            <a:ext cx="2318196" cy="772732"/>
          </a:xfrm>
          <a:prstGeom prst="borderCallout1">
            <a:avLst>
              <a:gd name="adj1" fmla="val 57083"/>
              <a:gd name="adj2" fmla="val 0"/>
              <a:gd name="adj3" fmla="val -102500"/>
              <a:gd name="adj4" fmla="val -5111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/>
              <a:t>Tipo de dados, tamanho e restrição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222995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38649" y="624110"/>
            <a:ext cx="9765964" cy="1280890"/>
          </a:xfrm>
        </p:spPr>
        <p:txBody>
          <a:bodyPr/>
          <a:lstStyle/>
          <a:p>
            <a:pPr algn="ctr"/>
            <a:r>
              <a:rPr lang="pt-BR" b="1" dirty="0"/>
              <a:t>Mudar nome de coluna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738648" y="2133600"/>
            <a:ext cx="9765963" cy="4447504"/>
          </a:xfrm>
        </p:spPr>
        <p:txBody>
          <a:bodyPr/>
          <a:lstStyle/>
          <a:p>
            <a:r>
              <a:rPr lang="pt-BR" dirty="0"/>
              <a:t>Para mudar o nome de uma coluna, utiliza-se</a:t>
            </a:r>
            <a:r>
              <a:rPr lang="pt-BR" dirty="0" smtClean="0"/>
              <a:t>:</a:t>
            </a:r>
          </a:p>
          <a:p>
            <a:endParaRPr lang="pt-BR" dirty="0"/>
          </a:p>
          <a:p>
            <a:endParaRPr lang="pt-BR" dirty="0" smtClean="0"/>
          </a:p>
          <a:p>
            <a:endParaRPr lang="pt-BR" dirty="0"/>
          </a:p>
          <a:p>
            <a:endParaRPr lang="pt-BR" dirty="0" smtClean="0"/>
          </a:p>
          <a:p>
            <a:r>
              <a:rPr lang="pt-BR" dirty="0"/>
              <a:t>ALTER TABLE produtos RENAME COLUMN </a:t>
            </a:r>
            <a:r>
              <a:rPr lang="pt-BR" dirty="0" err="1"/>
              <a:t>cod_prod</a:t>
            </a:r>
            <a:r>
              <a:rPr lang="pt-BR" dirty="0"/>
              <a:t> TO </a:t>
            </a:r>
            <a:r>
              <a:rPr lang="pt-BR" dirty="0" err="1"/>
              <a:t>cod_produto</a:t>
            </a:r>
            <a:r>
              <a:rPr lang="pt-BR" dirty="0"/>
              <a:t>;</a:t>
            </a:r>
          </a:p>
        </p:txBody>
      </p:sp>
      <p:sp>
        <p:nvSpPr>
          <p:cNvPr id="4" name="Texto Explicativo 1 3"/>
          <p:cNvSpPr/>
          <p:nvPr/>
        </p:nvSpPr>
        <p:spPr>
          <a:xfrm>
            <a:off x="4584880" y="2457719"/>
            <a:ext cx="2318196" cy="772732"/>
          </a:xfrm>
          <a:prstGeom prst="borderCallout1">
            <a:avLst>
              <a:gd name="adj1" fmla="val 57083"/>
              <a:gd name="adj2" fmla="val 0"/>
              <a:gd name="adj3" fmla="val 227500"/>
              <a:gd name="adj4" fmla="val -29444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/>
              <a:t>Nome da tabela</a:t>
            </a:r>
            <a:endParaRPr lang="pt-BR" dirty="0"/>
          </a:p>
        </p:txBody>
      </p:sp>
      <p:sp>
        <p:nvSpPr>
          <p:cNvPr id="5" name="Texto Explicativo 1 4"/>
          <p:cNvSpPr/>
          <p:nvPr/>
        </p:nvSpPr>
        <p:spPr>
          <a:xfrm>
            <a:off x="7585658" y="2457719"/>
            <a:ext cx="2318196" cy="772732"/>
          </a:xfrm>
          <a:prstGeom prst="borderCallout1">
            <a:avLst>
              <a:gd name="adj1" fmla="val 57083"/>
              <a:gd name="adj2" fmla="val 0"/>
              <a:gd name="adj3" fmla="val 227500"/>
              <a:gd name="adj4" fmla="val -29444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/>
              <a:t>Nome da coluna</a:t>
            </a:r>
            <a:endParaRPr lang="pt-BR" dirty="0"/>
          </a:p>
        </p:txBody>
      </p:sp>
      <p:sp>
        <p:nvSpPr>
          <p:cNvPr id="6" name="Texto Explicativo 1 5"/>
          <p:cNvSpPr/>
          <p:nvPr/>
        </p:nvSpPr>
        <p:spPr>
          <a:xfrm>
            <a:off x="9873804" y="5227750"/>
            <a:ext cx="2318196" cy="772732"/>
          </a:xfrm>
          <a:prstGeom prst="borderCallout1">
            <a:avLst>
              <a:gd name="adj1" fmla="val 57083"/>
              <a:gd name="adj2" fmla="val 0"/>
              <a:gd name="adj3" fmla="val -102500"/>
              <a:gd name="adj4" fmla="val -5111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/>
              <a:t>Novo nome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0567073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38649" y="624110"/>
            <a:ext cx="9765964" cy="1280890"/>
          </a:xfrm>
        </p:spPr>
        <p:txBody>
          <a:bodyPr/>
          <a:lstStyle/>
          <a:p>
            <a:pPr algn="ctr"/>
            <a:r>
              <a:rPr lang="pt-BR" b="1" dirty="0"/>
              <a:t>Mudar nome de tabela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738648" y="2133600"/>
            <a:ext cx="9765963" cy="4447504"/>
          </a:xfrm>
        </p:spPr>
        <p:txBody>
          <a:bodyPr/>
          <a:lstStyle/>
          <a:p>
            <a:r>
              <a:rPr lang="pt-BR" dirty="0"/>
              <a:t>Para mudar o nome </a:t>
            </a:r>
            <a:r>
              <a:rPr lang="pt-BR" dirty="0" smtClean="0"/>
              <a:t>da tabela, </a:t>
            </a:r>
            <a:r>
              <a:rPr lang="pt-BR" dirty="0"/>
              <a:t>utiliza-se</a:t>
            </a:r>
            <a:r>
              <a:rPr lang="pt-BR" dirty="0" smtClean="0"/>
              <a:t>:</a:t>
            </a:r>
          </a:p>
          <a:p>
            <a:endParaRPr lang="pt-BR" dirty="0"/>
          </a:p>
          <a:p>
            <a:endParaRPr lang="pt-BR" dirty="0" smtClean="0"/>
          </a:p>
          <a:p>
            <a:endParaRPr lang="pt-BR" dirty="0"/>
          </a:p>
          <a:p>
            <a:endParaRPr lang="pt-BR" dirty="0" smtClean="0"/>
          </a:p>
          <a:p>
            <a:r>
              <a:rPr lang="pt-BR" dirty="0"/>
              <a:t>ALTER TABLE produtos RENAME TO equipamentos;</a:t>
            </a:r>
            <a:endParaRPr lang="pt-BR" dirty="0" smtClean="0"/>
          </a:p>
        </p:txBody>
      </p:sp>
      <p:sp>
        <p:nvSpPr>
          <p:cNvPr id="4" name="Texto Explicativo 1 3"/>
          <p:cNvSpPr/>
          <p:nvPr/>
        </p:nvSpPr>
        <p:spPr>
          <a:xfrm>
            <a:off x="4584880" y="2457719"/>
            <a:ext cx="2318196" cy="772732"/>
          </a:xfrm>
          <a:prstGeom prst="borderCallout1">
            <a:avLst>
              <a:gd name="adj1" fmla="val 57083"/>
              <a:gd name="adj2" fmla="val 0"/>
              <a:gd name="adj3" fmla="val 227500"/>
              <a:gd name="adj4" fmla="val -29444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/>
              <a:t>Nome da tabela</a:t>
            </a:r>
            <a:endParaRPr lang="pt-BR" dirty="0"/>
          </a:p>
        </p:txBody>
      </p:sp>
      <p:sp>
        <p:nvSpPr>
          <p:cNvPr id="6" name="Texto Explicativo 1 5"/>
          <p:cNvSpPr/>
          <p:nvPr/>
        </p:nvSpPr>
        <p:spPr>
          <a:xfrm>
            <a:off x="7813184" y="5214871"/>
            <a:ext cx="2318196" cy="772732"/>
          </a:xfrm>
          <a:prstGeom prst="borderCallout1">
            <a:avLst>
              <a:gd name="adj1" fmla="val 57083"/>
              <a:gd name="adj2" fmla="val 0"/>
              <a:gd name="adj3" fmla="val -102500"/>
              <a:gd name="adj4" fmla="val -5111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/>
              <a:t>Novo nome</a:t>
            </a:r>
            <a:endParaRPr lang="pt-BR" dirty="0"/>
          </a:p>
        </p:txBody>
      </p:sp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solidFill>
            <a:srgbClr val="F9F9F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900" b="0" i="0" u="none" strike="noStrike" cap="none" normalizeH="0" baseline="0" smtClean="0">
                <a:ln>
                  <a:noFill/>
                </a:ln>
                <a:solidFill>
                  <a:srgbClr val="00006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ALTER TABLE produtos RENAME TO equipamentos;</a:t>
            </a:r>
            <a:r>
              <a:rPr kumimoji="0" lang="pt-BR" sz="11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pt-B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2"/>
          <p:cNvSpPr>
            <a:spLocks noChangeArrowheads="1"/>
          </p:cNvSpPr>
          <p:nvPr/>
        </p:nvSpPr>
        <p:spPr bwMode="auto">
          <a:xfrm>
            <a:off x="152400" y="152400"/>
            <a:ext cx="12192000" cy="457200"/>
          </a:xfrm>
          <a:prstGeom prst="rect">
            <a:avLst/>
          </a:prstGeom>
          <a:solidFill>
            <a:srgbClr val="F9F9F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900" b="0" i="0" u="none" strike="noStrike" cap="none" normalizeH="0" baseline="0" smtClean="0">
                <a:ln>
                  <a:noFill/>
                </a:ln>
                <a:solidFill>
                  <a:srgbClr val="00006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ALTER TABLE produtos RENAME TO equipamentos;</a:t>
            </a:r>
            <a:r>
              <a:rPr kumimoji="0" lang="pt-BR" sz="11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pt-B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1195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 </a:t>
            </a:r>
            <a:r>
              <a:rPr lang="pt-BR" dirty="0" smtClean="0"/>
              <a:t>Chave Primária 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 dirty="0" smtClean="0"/>
          </a:p>
          <a:p>
            <a:endParaRPr lang="pt-BR" dirty="0"/>
          </a:p>
          <a:p>
            <a:r>
              <a:rPr lang="pt-BR" dirty="0" smtClean="0"/>
              <a:t>ALTER </a:t>
            </a:r>
            <a:r>
              <a:rPr lang="pt-BR" dirty="0"/>
              <a:t>TABLE CLIENTES ADD CONSTRAINT PK_CLIENTES PRIMARY KEY (COD)</a:t>
            </a:r>
            <a:br>
              <a:rPr lang="pt-BR" dirty="0"/>
            </a:br>
            <a:r>
              <a:rPr lang="pt-BR" dirty="0"/>
              <a:t/>
            </a:r>
            <a:br>
              <a:rPr lang="pt-BR" dirty="0"/>
            </a:b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7115138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Chave estrangeira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2150772" y="2133600"/>
            <a:ext cx="9353840" cy="3777622"/>
          </a:xfrm>
        </p:spPr>
        <p:txBody>
          <a:bodyPr/>
          <a:lstStyle/>
          <a:p>
            <a:r>
              <a:rPr lang="pt-BR" dirty="0"/>
              <a:t>ALTER TABLE PEDIDOS ADD CONSTRAINT FK_COD_CLI FOREIGN KEY (COD_CLI) REFERENCES CLIENTES(COD); 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310325460"/>
      </p:ext>
    </p:extLst>
  </p:cSld>
  <p:clrMapOvr>
    <a:masterClrMapping/>
  </p:clrMapOvr>
</p:sld>
</file>

<file path=ppt/theme/theme1.xml><?xml version="1.0" encoding="utf-8"?>
<a:theme xmlns:a="http://schemas.openxmlformats.org/drawingml/2006/main" name="Cacho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50</TotalTime>
  <Words>165</Words>
  <Application>Microsoft Office PowerPoint</Application>
  <PresentationFormat>Widescreen</PresentationFormat>
  <Paragraphs>49</Paragraphs>
  <Slides>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12" baseType="lpstr">
      <vt:lpstr>Arial</vt:lpstr>
      <vt:lpstr>Century Gothic</vt:lpstr>
      <vt:lpstr>Courier New</vt:lpstr>
      <vt:lpstr>Wingdings 3</vt:lpstr>
      <vt:lpstr>Cacho</vt:lpstr>
      <vt:lpstr>MODIFICAÇÕES TABELAS</vt:lpstr>
      <vt:lpstr>Adicionar coluna </vt:lpstr>
      <vt:lpstr>Remover coluna</vt:lpstr>
      <vt:lpstr>Mudar nome de coluna</vt:lpstr>
      <vt:lpstr>Mudar nome de tabela</vt:lpstr>
      <vt:lpstr> Chave Primária </vt:lpstr>
      <vt:lpstr>Chave estrangeira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MODIFICAÇÕES TABELAS</dc:title>
  <dc:creator>Cliente</dc:creator>
  <cp:lastModifiedBy>cliente</cp:lastModifiedBy>
  <cp:revision>3</cp:revision>
  <dcterms:created xsi:type="dcterms:W3CDTF">2015-05-21T14:44:29Z</dcterms:created>
  <dcterms:modified xsi:type="dcterms:W3CDTF">2024-11-13T23:06:56Z</dcterms:modified>
</cp:coreProperties>
</file>