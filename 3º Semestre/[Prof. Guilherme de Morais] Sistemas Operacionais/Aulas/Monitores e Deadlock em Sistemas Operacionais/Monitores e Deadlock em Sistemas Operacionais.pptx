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Quicksand Bold" panose="020B0604020202020204" charset="0"/>
      <p:regular r:id="rId31"/>
    </p:embeddedFont>
    <p:embeddedFont>
      <p:font typeface="Quicksand" panose="020B0604020202020204" charset="0"/>
      <p:regular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4049" y="3181350"/>
            <a:ext cx="12706349" cy="37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9000">
                <a:solidFill>
                  <a:srgbClr val="161C2E"/>
                </a:solidFill>
                <a:latin typeface="Quicksand Bold"/>
              </a:rPr>
              <a:t>Monitores e Deadlock em Sistemas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4049" y="7410449"/>
            <a:ext cx="8858250" cy="795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2850">
                <a:solidFill>
                  <a:srgbClr val="161C2E"/>
                </a:solidFill>
                <a:latin typeface="Quicksand"/>
              </a:rPr>
              <a:t>Gerenciamento de concorrência e prevenção de impasses em multiprocessadores.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1695449"/>
            <a:ext cx="7486650" cy="100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499" y="2266950"/>
            <a:ext cx="7248525" cy="5751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Introdução aos Monitores e Concorrência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Definição e Componentes dos Monitores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Exclusão Mútua e Mecanismo de Trava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Introdução ao Problema do Deadlock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Visualização e Limitações dos Monitores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371ab8b2-3680-44ca-bede-f0f3988b84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2333624"/>
            <a:ext cx="7000875" cy="5610224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39300" y="1790700"/>
            <a:ext cx="7362824" cy="171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161C2E"/>
                </a:solidFill>
                <a:latin typeface="Quicksand Bold"/>
              </a:rPr>
              <a:t>Monitores: Introdução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9300" y="3813810"/>
            <a:ext cx="7362824" cy="3039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>
                <a:solidFill>
                  <a:srgbClr val="161C2E"/>
                </a:solidFill>
                <a:latin typeface="Quicksand"/>
              </a:rPr>
              <a:t>Monitores: conceitos essenciais. Onda de programação para problemas </a:t>
            </a:r>
            <a:r>
              <a:rPr sz="2850">
                <a:solidFill>
                  <a:srgbClr val="161C2E"/>
                </a:solidFill>
                <a:latin typeface="Quicksand Bold"/>
              </a:rPr>
              <a:t>inerentemente paralelos</a:t>
            </a:r>
            <a:r>
              <a:rPr sz="2850">
                <a:solidFill>
                  <a:srgbClr val="161C2E"/>
                </a:solidFill>
                <a:latin typeface="Quicksand"/>
              </a:rPr>
              <a:t>. Com o </a:t>
            </a:r>
            <a:r>
              <a:rPr sz="2850">
                <a:solidFill>
                  <a:srgbClr val="161C2E"/>
                </a:solidFill>
                <a:latin typeface="Quicksand Bold"/>
              </a:rPr>
              <a:t>multiprocessamento</a:t>
            </a:r>
            <a:r>
              <a:rPr sz="2850">
                <a:solidFill>
                  <a:srgbClr val="161C2E"/>
                </a:solidFill>
                <a:latin typeface="Quicksand"/>
              </a:rPr>
              <a:t> surgem desafios de </a:t>
            </a:r>
            <a:r>
              <a:rPr sz="2850">
                <a:solidFill>
                  <a:srgbClr val="161C2E"/>
                </a:solidFill>
                <a:latin typeface="Quicksand Bold"/>
              </a:rPr>
              <a:t>gerenciamento de processos</a:t>
            </a:r>
            <a:r>
              <a:rPr sz="2850">
                <a:solidFill>
                  <a:srgbClr val="161C2E"/>
                </a:solidFill>
                <a:latin typeface="Quicksand"/>
              </a:rPr>
              <a:t>. Uma abordagem para a sincronização.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5875" y="8134349"/>
            <a:ext cx="7367587" cy="74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 i="1">
                <a:solidFill>
                  <a:srgbClr val="161C2E"/>
                </a:solidFill>
                <a:latin typeface="Quicksand"/>
              </a:rPr>
              <a:t>Systolic array for parallel matrix multiplication and synchronization.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100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O Problema da Concorrência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006089"/>
            <a:ext cx="13173075" cy="213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A programação paralela e o uso de multiprocessadores introduzem desafios no </a:t>
            </a:r>
            <a:r>
              <a:rPr sz="3000">
                <a:solidFill>
                  <a:srgbClr val="161C2E"/>
                </a:solidFill>
                <a:latin typeface="Quicksand Bold"/>
              </a:rPr>
              <a:t>gerenciamento de processadores</a:t>
            </a:r>
            <a:r>
              <a:rPr sz="3000">
                <a:solidFill>
                  <a:srgbClr val="161C2E"/>
                </a:solidFill>
                <a:latin typeface="Quicksand"/>
              </a:rPr>
              <a:t>. Estes problemas surgem da necessidade de coordenar o acesso a </a:t>
            </a:r>
            <a:r>
              <a:rPr sz="3000">
                <a:solidFill>
                  <a:srgbClr val="161C2E"/>
                </a:solidFill>
                <a:latin typeface="Quicksand Bold"/>
              </a:rPr>
              <a:t>recursos compartilhados</a:t>
            </a:r>
            <a:r>
              <a:rPr sz="3000">
                <a:solidFill>
                  <a:srgbClr val="161C2E"/>
                </a:solidFill>
                <a:latin typeface="Quicksand"/>
              </a:rPr>
              <a:t> entre tarefas ou processos executados simultaneamente.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171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161C2E"/>
                </a:solidFill>
                <a:latin typeface="Quicksand Bold"/>
              </a:rPr>
              <a:t>Aplicações de Sistemas Concorrentes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7350" y="3718560"/>
            <a:ext cx="13173075" cy="592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2700">
                <a:latin typeface="Quicksand"/>
              </a:rPr>
              <a:t>  </a:t>
            </a:r>
            <a:r>
              <a:rPr sz="2700">
                <a:solidFill>
                  <a:srgbClr val="161C2E"/>
                </a:solidFill>
                <a:latin typeface="Quicksand Bold"/>
              </a:rPr>
              <a:t>Sistemas operacionais</a:t>
            </a:r>
            <a:r>
              <a:rPr sz="2700">
                <a:solidFill>
                  <a:srgbClr val="161C2E"/>
                </a:solidFill>
                <a:latin typeface="Quicksand"/>
              </a:rPr>
              <a:t>: gerenciam a alocação de recursos e a execução de múltiplos processos e threads, sendo um exemplo fundamental de concorrência.</a:t>
            </a:r>
          </a:p>
          <a:p>
            <a:pPr algn="l">
              <a:lnSpc>
                <a:spcPct val="126000"/>
              </a:lnSpc>
              <a:spcBef>
                <a:spcPts val="1687"/>
              </a:spcBef>
              <a:buChar char="•"/>
            </a:pPr>
            <a:r>
              <a:rPr sz="2700">
                <a:latin typeface="Quicksand"/>
              </a:rPr>
              <a:t>  </a:t>
            </a:r>
            <a:r>
              <a:rPr sz="2700">
                <a:solidFill>
                  <a:srgbClr val="161C2E"/>
                </a:solidFill>
                <a:latin typeface="Quicksand Bold"/>
              </a:rPr>
              <a:t>Controle de tráfego aéreo</a:t>
            </a:r>
            <a:r>
              <a:rPr sz="2700">
                <a:solidFill>
                  <a:srgbClr val="161C2E"/>
                </a:solidFill>
                <a:latin typeface="Quicksand"/>
              </a:rPr>
              <a:t>: coordena o movimento de várias aeronaves simultaneamente, evitando colisões e otimizando fluxos de pouso e decolagem.</a:t>
            </a:r>
          </a:p>
          <a:p>
            <a:pPr algn="l">
              <a:lnSpc>
                <a:spcPct val="126000"/>
              </a:lnSpc>
              <a:spcBef>
                <a:spcPts val="1687"/>
              </a:spcBef>
              <a:buChar char="•"/>
            </a:pPr>
            <a:r>
              <a:rPr sz="2700">
                <a:latin typeface="Quicksand"/>
              </a:rPr>
              <a:t>  </a:t>
            </a:r>
            <a:r>
              <a:rPr sz="2700">
                <a:solidFill>
                  <a:srgbClr val="161C2E"/>
                </a:solidFill>
                <a:latin typeface="Quicksand Bold"/>
              </a:rPr>
              <a:t>Sistemas de controle em tempo real</a:t>
            </a:r>
            <a:r>
              <a:rPr sz="2700">
                <a:solidFill>
                  <a:srgbClr val="161C2E"/>
                </a:solidFill>
                <a:latin typeface="Quicksand"/>
              </a:rPr>
              <a:t>: respondem a eventos externos dentro de prazos estritos, como em robótica industrial ou instrumentação médica, exigindo processamento paralelo.</a:t>
            </a:r>
          </a:p>
          <a:p>
            <a:pPr algn="l">
              <a:lnSpc>
                <a:spcPct val="126000"/>
              </a:lnSpc>
              <a:spcBef>
                <a:spcPts val="1687"/>
              </a:spcBef>
              <a:buChar char="•"/>
            </a:pPr>
            <a:r>
              <a:rPr sz="2700">
                <a:latin typeface="Quicksand"/>
              </a:rPr>
              <a:t>  </a:t>
            </a:r>
            <a:r>
              <a:rPr sz="2700">
                <a:solidFill>
                  <a:srgbClr val="161C2E"/>
                </a:solidFill>
                <a:latin typeface="Quicksand Bold"/>
              </a:rPr>
              <a:t>Refinarias de petróleo</a:t>
            </a:r>
            <a:r>
              <a:rPr sz="2700">
                <a:solidFill>
                  <a:srgbClr val="161C2E"/>
                </a:solidFill>
                <a:latin typeface="Quicksand"/>
              </a:rPr>
              <a:t>: monitoram e controlam processos industriais complexos e interligados, onde falhas em um subsistema podem ter impactos em larga escala.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100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O Que é um Monitor?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006089"/>
            <a:ext cx="13173075" cy="266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Para resolver problemas de programação concorrente em máquinas multiprocessadas, o </a:t>
            </a:r>
            <a:r>
              <a:rPr sz="3000">
                <a:solidFill>
                  <a:srgbClr val="161C2E"/>
                </a:solidFill>
                <a:latin typeface="Quicksand Bold"/>
              </a:rPr>
              <a:t>monitor</a:t>
            </a:r>
            <a:r>
              <a:rPr sz="3000">
                <a:solidFill>
                  <a:srgbClr val="161C2E"/>
                </a:solidFill>
                <a:latin typeface="Quicksand"/>
              </a:rPr>
              <a:t> é uma ferramenta essencial. Ele é um objeto que encapsula </a:t>
            </a:r>
            <a:r>
              <a:rPr sz="3000">
                <a:solidFill>
                  <a:srgbClr val="161C2E"/>
                </a:solidFill>
                <a:latin typeface="Quicksand Bold"/>
              </a:rPr>
              <a:t>dados</a:t>
            </a:r>
            <a:r>
              <a:rPr sz="3000">
                <a:solidFill>
                  <a:srgbClr val="161C2E"/>
                </a:solidFill>
                <a:latin typeface="Quicksand"/>
              </a:rPr>
              <a:t> e </a:t>
            </a:r>
            <a:r>
              <a:rPr sz="3000">
                <a:solidFill>
                  <a:srgbClr val="161C2E"/>
                </a:solidFill>
                <a:latin typeface="Quicksand Bold"/>
              </a:rPr>
              <a:t>procedimentos</a:t>
            </a:r>
            <a:r>
              <a:rPr sz="3000">
                <a:solidFill>
                  <a:srgbClr val="161C2E"/>
                </a:solidFill>
                <a:latin typeface="Quicksand"/>
              </a:rPr>
              <a:t> para gerenciar a alocação de um recurso compartilhado reutilizável, garantindo sincronização e evitando condições de corrida.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171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161C2E"/>
                </a:solidFill>
                <a:latin typeface="Quicksand Bold"/>
              </a:rPr>
              <a:t>Componentes Essenciais de um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7350" y="3718560"/>
            <a:ext cx="13173075" cy="5275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 Bold"/>
              </a:rPr>
              <a:t>Dados Privados</a:t>
            </a:r>
            <a:r>
              <a:rPr sz="3000">
                <a:solidFill>
                  <a:srgbClr val="161C2E"/>
                </a:solidFill>
                <a:latin typeface="Quicksand"/>
              </a:rPr>
              <a:t>: As variáveis internas encapsulam o </a:t>
            </a:r>
            <a:r>
              <a:rPr sz="3000" i="1">
                <a:solidFill>
                  <a:srgbClr val="161C2E"/>
                </a:solidFill>
                <a:latin typeface="Quicksand"/>
              </a:rPr>
              <a:t>estado</a:t>
            </a:r>
            <a:r>
              <a:rPr sz="3000">
                <a:solidFill>
                  <a:srgbClr val="161C2E"/>
                </a:solidFill>
                <a:latin typeface="Quicksand"/>
              </a:rPr>
              <a:t> do recurso compartilhado, acessíveis exclusivamente pelos procedimentos do monitor.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 Bold"/>
              </a:rPr>
              <a:t>Procedimentos de Acesso</a:t>
            </a:r>
            <a:r>
              <a:rPr sz="3000">
                <a:solidFill>
                  <a:srgbClr val="161C2E"/>
                </a:solidFill>
                <a:latin typeface="Quicksand"/>
              </a:rPr>
              <a:t>: Funções ou métodos que definem as operações permitidas sobre os dados privados, garantindo a </a:t>
            </a:r>
            <a:r>
              <a:rPr sz="3000" i="1">
                <a:solidFill>
                  <a:srgbClr val="161C2E"/>
                </a:solidFill>
                <a:latin typeface="Quicksand"/>
              </a:rPr>
              <a:t>integridade</a:t>
            </a:r>
            <a:r>
              <a:rPr sz="3000">
                <a:solidFill>
                  <a:srgbClr val="161C2E"/>
                </a:solidFill>
                <a:latin typeface="Quicksand"/>
              </a:rPr>
              <a:t> e o controle de acesso.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 Bold"/>
              </a:rPr>
              <a:t>Fila de Espera</a:t>
            </a:r>
            <a:r>
              <a:rPr sz="3000">
                <a:solidFill>
                  <a:srgbClr val="161C2E"/>
                </a:solidFill>
                <a:latin typeface="Quicksand"/>
              </a:rPr>
              <a:t>: Um mecanismo crucial para gerenciar processos que tentam acessar o recurso quando ele está ocupado, assegurando a </a:t>
            </a:r>
            <a:r>
              <a:rPr sz="3000" i="1">
                <a:solidFill>
                  <a:srgbClr val="161C2E"/>
                </a:solidFill>
                <a:latin typeface="Quicksand"/>
              </a:rPr>
              <a:t>exclusão mútua</a:t>
            </a:r>
            <a:r>
              <a:rPr sz="3000">
                <a:solidFill>
                  <a:srgbClr val="161C2E"/>
                </a:solidFill>
                <a:latin typeface="Quicksand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100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Acesso ao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006089"/>
            <a:ext cx="13173075" cy="213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Para alocar variáveis utilizando monitores, um </a:t>
            </a:r>
            <a:r>
              <a:rPr sz="3000">
                <a:solidFill>
                  <a:srgbClr val="161C2E"/>
                </a:solidFill>
                <a:latin typeface="Quicksand Bold"/>
              </a:rPr>
              <a:t>thread</a:t>
            </a:r>
            <a:r>
              <a:rPr sz="3000">
                <a:solidFill>
                  <a:srgbClr val="161C2E"/>
                </a:solidFill>
                <a:latin typeface="Quicksand"/>
              </a:rPr>
              <a:t> deve invocar uma </a:t>
            </a:r>
            <a:r>
              <a:rPr sz="3000">
                <a:solidFill>
                  <a:srgbClr val="161C2E"/>
                </a:solidFill>
                <a:latin typeface="Quicksand Bold"/>
              </a:rPr>
              <a:t>rotina de entrada de monitor</a:t>
            </a:r>
            <a:r>
              <a:rPr sz="3000">
                <a:solidFill>
                  <a:srgbClr val="161C2E"/>
                </a:solidFill>
                <a:latin typeface="Quicksand"/>
              </a:rPr>
              <a:t>. Este mecanismo centraliza o acesso controlado aos recursos compartilhados, garantindo a integridade dos dados.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100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Exclusão Mútua do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006089"/>
            <a:ext cx="13173075" cy="266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Embora vários </a:t>
            </a:r>
            <a:r>
              <a:rPr sz="3000" i="1">
                <a:solidFill>
                  <a:srgbClr val="161C2E"/>
                </a:solidFill>
                <a:latin typeface="Quicksand"/>
              </a:rPr>
              <a:t>threads</a:t>
            </a:r>
            <a:r>
              <a:rPr sz="3000">
                <a:solidFill>
                  <a:srgbClr val="161C2E"/>
                </a:solidFill>
                <a:latin typeface="Quicksand"/>
              </a:rPr>
              <a:t> possam solicitar acesso simultaneamente, a permissão de entrada no monitor é controlada estritamente pela sua </a:t>
            </a:r>
            <a:r>
              <a:rPr sz="3000">
                <a:solidFill>
                  <a:srgbClr val="161C2E"/>
                </a:solidFill>
                <a:latin typeface="Quicksand Bold"/>
              </a:rPr>
              <a:t>porta de entrada</a:t>
            </a:r>
            <a:r>
              <a:rPr sz="3000">
                <a:solidFill>
                  <a:srgbClr val="161C2E"/>
                </a:solidFill>
                <a:latin typeface="Quicksand"/>
              </a:rPr>
              <a:t>, garantindo que apenas </a:t>
            </a:r>
            <a:r>
              <a:rPr sz="3000">
                <a:solidFill>
                  <a:srgbClr val="161C2E"/>
                </a:solidFill>
                <a:latin typeface="Quicksand Bold"/>
              </a:rPr>
              <a:t>um thread por vez</a:t>
            </a:r>
            <a:r>
              <a:rPr sz="3000">
                <a:solidFill>
                  <a:srgbClr val="161C2E"/>
                </a:solidFill>
                <a:latin typeface="Quicksand"/>
              </a:rPr>
              <a:t> execute operações dentro de suas seções críticas para manter a integridade dos dados.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201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Aquisição da Trava do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11929"/>
            <a:ext cx="13173075" cy="213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Um </a:t>
            </a:r>
            <a:r>
              <a:rPr sz="3000" i="1">
                <a:solidFill>
                  <a:srgbClr val="161C2E"/>
                </a:solidFill>
                <a:latin typeface="Quicksand"/>
              </a:rPr>
              <a:t>thread</a:t>
            </a:r>
            <a:r>
              <a:rPr sz="3000">
                <a:solidFill>
                  <a:srgbClr val="161C2E"/>
                </a:solidFill>
                <a:latin typeface="Quicksand"/>
              </a:rPr>
              <a:t> adquire a </a:t>
            </a:r>
            <a:r>
              <a:rPr sz="3000">
                <a:solidFill>
                  <a:srgbClr val="161C2E"/>
                </a:solidFill>
                <a:latin typeface="Quicksand Bold"/>
              </a:rPr>
              <a:t>trava</a:t>
            </a:r>
            <a:r>
              <a:rPr sz="3000">
                <a:solidFill>
                  <a:srgbClr val="161C2E"/>
                </a:solidFill>
                <a:latin typeface="Quicksand"/>
              </a:rPr>
              <a:t> do monitor ao chamar sua rotina de entrada quando nenhum outro </a:t>
            </a:r>
            <a:r>
              <a:rPr sz="3000" i="1">
                <a:solidFill>
                  <a:srgbClr val="161C2E"/>
                </a:solidFill>
                <a:latin typeface="Quicksand"/>
              </a:rPr>
              <a:t>thread</a:t>
            </a:r>
            <a:r>
              <a:rPr sz="3000">
                <a:solidFill>
                  <a:srgbClr val="161C2E"/>
                </a:solidFill>
                <a:latin typeface="Quicksand"/>
              </a:rPr>
              <a:t> está ativo. Este mecanismo garante a </a:t>
            </a:r>
            <a:r>
              <a:rPr sz="3000" i="1">
                <a:solidFill>
                  <a:srgbClr val="161C2E"/>
                </a:solidFill>
                <a:latin typeface="Quicksand"/>
              </a:rPr>
              <a:t>exclusão mútua</a:t>
            </a:r>
            <a:r>
              <a:rPr sz="3000">
                <a:solidFill>
                  <a:srgbClr val="161C2E"/>
                </a:solidFill>
                <a:latin typeface="Quicksand"/>
              </a:rPr>
              <a:t>, permitindo que apenas um </a:t>
            </a:r>
            <a:r>
              <a:rPr sz="3000" i="1">
                <a:solidFill>
                  <a:srgbClr val="161C2E"/>
                </a:solidFill>
                <a:latin typeface="Quicksand"/>
              </a:rPr>
              <a:t>thread</a:t>
            </a:r>
            <a:r>
              <a:rPr sz="3000">
                <a:solidFill>
                  <a:srgbClr val="161C2E"/>
                </a:solidFill>
                <a:latin typeface="Quicksand"/>
              </a:rPr>
              <a:t> execute dentro do monitor por vez.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100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Monitor Ocupado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006089"/>
            <a:ext cx="13173075" cy="213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Quando um thread está dentro do monitor, </a:t>
            </a:r>
            <a:r>
              <a:rPr sz="3000">
                <a:solidFill>
                  <a:srgbClr val="161C2E"/>
                </a:solidFill>
                <a:latin typeface="Quicksand Bold"/>
              </a:rPr>
              <a:t>nenhum outro thread poderá obter o recurso</a:t>
            </a:r>
            <a:r>
              <a:rPr sz="3000">
                <a:solidFill>
                  <a:srgbClr val="161C2E"/>
                </a:solidFill>
                <a:latin typeface="Quicksand"/>
              </a:rPr>
              <a:t>. Este estado garante a exclusividade de acesso, crucial para evitar </a:t>
            </a:r>
            <a:r>
              <a:rPr sz="3000" i="1">
                <a:solidFill>
                  <a:srgbClr val="161C2E"/>
                </a:solidFill>
                <a:latin typeface="Quicksand"/>
              </a:rPr>
              <a:t>condições de corrida</a:t>
            </a:r>
            <a:r>
              <a:rPr sz="3000">
                <a:solidFill>
                  <a:srgbClr val="161C2E"/>
                </a:solidFill>
                <a:latin typeface="Quicksand"/>
              </a:rPr>
              <a:t> e manter a integridade dos dados compartilhados.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201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Espera por Acesso ao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11929"/>
            <a:ext cx="13173075" cy="213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Quando um thread tenta acessar um monitor </a:t>
            </a:r>
            <a:r>
              <a:rPr sz="3000">
                <a:solidFill>
                  <a:srgbClr val="161C2E"/>
                </a:solidFill>
                <a:latin typeface="Quicksand Bold"/>
              </a:rPr>
              <a:t>travado</a:t>
            </a:r>
            <a:r>
              <a:rPr sz="3000">
                <a:solidFill>
                  <a:srgbClr val="161C2E"/>
                </a:solidFill>
                <a:latin typeface="Quicksand"/>
              </a:rPr>
              <a:t>, ele entra em estado de espera controlada. O thread aguarda fora do monitor até que a trava seja liberada, garantindo acesso exclusivo e sincronizado aos recursos protegidos.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568fc2aa-0b66-4a8a-98f1-106b33a516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638299"/>
            <a:ext cx="7000875" cy="7000875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875" y="8829675"/>
            <a:ext cx="7367587" cy="74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 i="1">
                <a:solidFill>
                  <a:srgbClr val="161C2E"/>
                </a:solidFill>
                <a:latin typeface="Quicksand"/>
              </a:rPr>
              <a:t>Sincronização de dados: garantindo consistência em sistemas distribuídos.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9300" y="1790700"/>
            <a:ext cx="7362824" cy="257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161C2E"/>
                </a:solidFill>
                <a:latin typeface="Quicksand Bold"/>
              </a:rPr>
              <a:t>Benefícios Fundamentais dos Monitores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9300" y="4672965"/>
            <a:ext cx="7362824" cy="422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2400">
                <a:latin typeface="Quicksand"/>
              </a:rPr>
              <a:t>  </a:t>
            </a:r>
            <a:r>
              <a:rPr sz="2400">
                <a:solidFill>
                  <a:srgbClr val="161C2E"/>
                </a:solidFill>
                <a:latin typeface="Quicksand"/>
              </a:rPr>
              <a:t>A </a:t>
            </a:r>
            <a:r>
              <a:rPr sz="2400">
                <a:solidFill>
                  <a:srgbClr val="161C2E"/>
                </a:solidFill>
                <a:latin typeface="Quicksand Bold"/>
              </a:rPr>
              <a:t>exclusão mútua</a:t>
            </a:r>
            <a:r>
              <a:rPr sz="2400">
                <a:solidFill>
                  <a:srgbClr val="161C2E"/>
                </a:solidFill>
                <a:latin typeface="Quicksand"/>
              </a:rPr>
              <a:t> é garantida, assegurando que apenas um processo por vez possa acessar recursos críticos compartilhados.</a:t>
            </a:r>
          </a:p>
          <a:p>
            <a:pPr algn="l">
              <a:lnSpc>
                <a:spcPct val="126000"/>
              </a:lnSpc>
              <a:spcBef>
                <a:spcPts val="1500"/>
              </a:spcBef>
              <a:buChar char="•"/>
            </a:pPr>
            <a:r>
              <a:rPr sz="2400">
                <a:latin typeface="Quicksand"/>
              </a:rPr>
              <a:t>  </a:t>
            </a:r>
            <a:r>
              <a:rPr sz="2400">
                <a:solidFill>
                  <a:srgbClr val="161C2E"/>
                </a:solidFill>
                <a:latin typeface="Quicksand"/>
              </a:rPr>
              <a:t>A </a:t>
            </a:r>
            <a:r>
              <a:rPr sz="2400">
                <a:solidFill>
                  <a:srgbClr val="161C2E"/>
                </a:solidFill>
                <a:latin typeface="Quicksand Bold"/>
              </a:rPr>
              <a:t>programação concorrente</a:t>
            </a:r>
            <a:r>
              <a:rPr sz="2400">
                <a:solidFill>
                  <a:srgbClr val="161C2E"/>
                </a:solidFill>
                <a:latin typeface="Quicksand"/>
              </a:rPr>
              <a:t> é simplificada pela encapsulamento da lógica de sincronização dentro de uma única estrutura.</a:t>
            </a:r>
          </a:p>
          <a:p>
            <a:pPr algn="l">
              <a:lnSpc>
                <a:spcPct val="126000"/>
              </a:lnSpc>
              <a:spcBef>
                <a:spcPts val="1500"/>
              </a:spcBef>
              <a:buChar char="•"/>
            </a:pPr>
            <a:r>
              <a:rPr sz="2400">
                <a:latin typeface="Quicksand"/>
              </a:rPr>
              <a:t>  </a:t>
            </a:r>
            <a:r>
              <a:rPr sz="2400">
                <a:solidFill>
                  <a:srgbClr val="161C2E"/>
                </a:solidFill>
                <a:latin typeface="Quicksand"/>
              </a:rPr>
              <a:t>A </a:t>
            </a:r>
            <a:r>
              <a:rPr sz="2400">
                <a:solidFill>
                  <a:srgbClr val="161C2E"/>
                </a:solidFill>
                <a:latin typeface="Quicksand Bold"/>
              </a:rPr>
              <a:t>prevenção de condições de corrida</a:t>
            </a:r>
            <a:r>
              <a:rPr sz="2400">
                <a:solidFill>
                  <a:srgbClr val="161C2E"/>
                </a:solidFill>
                <a:latin typeface="Quicksand"/>
              </a:rPr>
              <a:t> é eficaz, eliminando inconsistências nos dados ao controlar o acesso exclusivo.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100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Introdução ao Deadlock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006089"/>
            <a:ext cx="13173075" cy="1599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Um problema comum em sistemas de multiprogramação é o </a:t>
            </a:r>
            <a:r>
              <a:rPr sz="3000">
                <a:solidFill>
                  <a:srgbClr val="161C2E"/>
                </a:solidFill>
                <a:latin typeface="Quicksand Bold"/>
              </a:rPr>
              <a:t>deadlock</a:t>
            </a:r>
            <a:r>
              <a:rPr sz="3000">
                <a:solidFill>
                  <a:srgbClr val="161C2E"/>
                </a:solidFill>
                <a:latin typeface="Quicksand"/>
              </a:rPr>
              <a:t>. Um processo ou </a:t>
            </a:r>
            <a:r>
              <a:rPr sz="3000" i="1">
                <a:solidFill>
                  <a:srgbClr val="161C2E"/>
                </a:solidFill>
                <a:latin typeface="Quicksand"/>
              </a:rPr>
              <a:t>thread</a:t>
            </a:r>
            <a:r>
              <a:rPr sz="3000">
                <a:solidFill>
                  <a:srgbClr val="161C2E"/>
                </a:solidFill>
                <a:latin typeface="Quicksand"/>
              </a:rPr>
              <a:t> entra em deadlock (estado travado) quando aguarda por um evento que jamais ocorrerá.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201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Deadlock e Recursos Compartilhados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11929"/>
            <a:ext cx="13173075" cy="213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Em sistemas de multiprogramação, o </a:t>
            </a:r>
            <a:r>
              <a:rPr sz="3000">
                <a:solidFill>
                  <a:srgbClr val="161C2E"/>
                </a:solidFill>
                <a:latin typeface="Quicksand Bold"/>
              </a:rPr>
              <a:t>compartilhamento de recursos</a:t>
            </a:r>
            <a:r>
              <a:rPr sz="3000">
                <a:solidFill>
                  <a:srgbClr val="161C2E"/>
                </a:solidFill>
                <a:latin typeface="Quicksand"/>
              </a:rPr>
              <a:t> é essencial. Contudo, essa característica pode levar ao </a:t>
            </a:r>
            <a:r>
              <a:rPr sz="3000" i="1">
                <a:solidFill>
                  <a:srgbClr val="161C2E"/>
                </a:solidFill>
                <a:latin typeface="Quicksand"/>
              </a:rPr>
              <a:t>deadlock</a:t>
            </a:r>
            <a:r>
              <a:rPr sz="3000">
                <a:solidFill>
                  <a:srgbClr val="161C2E"/>
                </a:solidFill>
                <a:latin typeface="Quicksand"/>
              </a:rPr>
              <a:t>, onde um ou mais processos estão </a:t>
            </a:r>
            <a:r>
              <a:rPr sz="3000">
                <a:solidFill>
                  <a:srgbClr val="161C2E"/>
                </a:solidFill>
                <a:latin typeface="Quicksand Bold"/>
              </a:rPr>
              <a:t>travados</a:t>
            </a:r>
            <a:r>
              <a:rPr sz="3000">
                <a:solidFill>
                  <a:srgbClr val="161C2E"/>
                </a:solidFill>
                <a:latin typeface="Quicksand"/>
              </a:rPr>
              <a:t>, incapazes de progredir, aguardando recursos que nunca serão liberados.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85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161C2E"/>
                </a:solidFill>
                <a:latin typeface="Quicksand Bold"/>
              </a:rPr>
              <a:t>Consequências do Deadlock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7350" y="2859405"/>
            <a:ext cx="13173075" cy="5275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A </a:t>
            </a:r>
            <a:r>
              <a:rPr sz="3000">
                <a:solidFill>
                  <a:srgbClr val="161C2E"/>
                </a:solidFill>
                <a:latin typeface="Quicksand Bold"/>
              </a:rPr>
              <a:t>Perda de trabalho</a:t>
            </a:r>
            <a:r>
              <a:rPr sz="3000">
                <a:solidFill>
                  <a:srgbClr val="161C2E"/>
                </a:solidFill>
                <a:latin typeface="Quicksand"/>
              </a:rPr>
              <a:t> acumulado por um processo pode ocorrer, exigindo que operações incompletas sejam reiniciadas ou que dados não salvos sejam irrecuperáveis.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A </a:t>
            </a:r>
            <a:r>
              <a:rPr sz="3000">
                <a:solidFill>
                  <a:srgbClr val="161C2E"/>
                </a:solidFill>
                <a:latin typeface="Quicksand Bold"/>
              </a:rPr>
              <a:t>Redução de rendimento</a:t>
            </a:r>
            <a:r>
              <a:rPr sz="3000">
                <a:solidFill>
                  <a:srgbClr val="161C2E"/>
                </a:solidFill>
                <a:latin typeface="Quicksand"/>
              </a:rPr>
              <a:t> geral do sistema é notável, pois os recursos permanecem bloqueados e o desempenho global é severamente degradado por processos ociosos.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 Bold"/>
              </a:rPr>
              <a:t>Falhas no sistema</a:t>
            </a:r>
            <a:r>
              <a:rPr sz="3000">
                <a:solidFill>
                  <a:srgbClr val="161C2E"/>
                </a:solidFill>
                <a:latin typeface="Quicksand"/>
              </a:rPr>
              <a:t> podem ser o resultado final, onde a exaustão de recursos ou a impossibilidade de progressão levam à necessidade de reinicialização ou interrupção forçada.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453562" y="8985885"/>
            <a:ext cx="6929437" cy="1005839"/>
          </a:xfrm>
          <a:prstGeom prst="roundRect">
            <a:avLst>
              <a:gd name="adj" fmla="val 2777"/>
            </a:avLst>
          </a:prstGeom>
          <a:solidFill>
            <a:srgbClr val="D9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0c78659-017c-4f70-9529-f4bb5229905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pic>
        <p:nvPicPr>
          <p:cNvPr id="5" name="Picture 4" descr="9f0c9d52-8301-4b51-9641-98924f82bb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76350" y="1276350"/>
            <a:ext cx="6572250" cy="171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161C2E"/>
                </a:solidFill>
                <a:latin typeface="Quicksand Bold"/>
              </a:rPr>
              <a:t>Exemplo: Engarrafamento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350" y="3299460"/>
            <a:ext cx="6572250" cy="3039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>
                <a:solidFill>
                  <a:srgbClr val="161C2E"/>
                </a:solidFill>
                <a:latin typeface="Quicksand"/>
              </a:rPr>
              <a:t>A figura ilustra um tipo de </a:t>
            </a:r>
            <a:r>
              <a:rPr sz="2850" i="1">
                <a:solidFill>
                  <a:srgbClr val="161C2E"/>
                </a:solidFill>
                <a:latin typeface="Quicksand"/>
              </a:rPr>
              <a:t>deadlock</a:t>
            </a:r>
            <a:r>
              <a:rPr sz="2850">
                <a:solidFill>
                  <a:srgbClr val="161C2E"/>
                </a:solidFill>
                <a:latin typeface="Quicksand"/>
              </a:rPr>
              <a:t> que ocasionalmente acontece em cidades: um </a:t>
            </a:r>
            <a:r>
              <a:rPr sz="2850">
                <a:solidFill>
                  <a:srgbClr val="161C2E"/>
                </a:solidFill>
                <a:latin typeface="Quicksand Bold"/>
              </a:rPr>
              <a:t>engarrafamento</a:t>
            </a:r>
            <a:r>
              <a:rPr sz="2850">
                <a:solidFill>
                  <a:srgbClr val="161C2E"/>
                </a:solidFill>
                <a:latin typeface="Quicksand"/>
              </a:rPr>
              <a:t>. Vários automóveis tentam transitar por um bairro movimentado, resultando em um tráfego totalmente engarrafado.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5962" y="9062085"/>
            <a:ext cx="6624637" cy="853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400" i="1">
                <a:solidFill>
                  <a:srgbClr val="161C2E"/>
                </a:solidFill>
                <a:latin typeface="Quicksand"/>
              </a:rPr>
              <a:t>Engarrafamento em Jakarta: um exemplo de deadlock em sistemas urbanos.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858b2922-0251-4c16-afd5-a84dab1000f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657350"/>
            <a:ext cx="7000875" cy="6962775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875" y="8810625"/>
            <a:ext cx="7367587" cy="74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 i="1">
                <a:solidFill>
                  <a:srgbClr val="161C2E"/>
                </a:solidFill>
                <a:latin typeface="Quicksand"/>
              </a:rPr>
              <a:t>Carros em engarrafamento: analogia para processos e recursos em deadlock.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9300" y="1790700"/>
            <a:ext cx="7362824" cy="257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161C2E"/>
                </a:solidFill>
                <a:latin typeface="Quicksand Bold"/>
              </a:rPr>
              <a:t>Engarrafamento: Analogia do Deadlock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9300" y="4672965"/>
            <a:ext cx="7362824" cy="42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2850">
                <a:latin typeface="Quicksand"/>
              </a:rPr>
              <a:t>  </a:t>
            </a:r>
            <a:r>
              <a:rPr sz="2850">
                <a:solidFill>
                  <a:srgbClr val="161C2E"/>
                </a:solidFill>
                <a:latin typeface="Quicksand"/>
              </a:rPr>
              <a:t>Os </a:t>
            </a:r>
            <a:r>
              <a:rPr sz="2850">
                <a:solidFill>
                  <a:srgbClr val="161C2E"/>
                </a:solidFill>
                <a:latin typeface="Quicksand Bold"/>
              </a:rPr>
              <a:t>carros</a:t>
            </a:r>
            <a:r>
              <a:rPr sz="2850">
                <a:solidFill>
                  <a:srgbClr val="161C2E"/>
                </a:solidFill>
                <a:latin typeface="Quicksand"/>
              </a:rPr>
              <a:t> representam os </a:t>
            </a:r>
            <a:r>
              <a:rPr sz="2850" i="1">
                <a:solidFill>
                  <a:srgbClr val="161C2E"/>
                </a:solidFill>
                <a:latin typeface="Quicksand"/>
              </a:rPr>
              <a:t>processos</a:t>
            </a:r>
            <a:r>
              <a:rPr sz="2850">
                <a:solidFill>
                  <a:srgbClr val="161C2E"/>
                </a:solidFill>
                <a:latin typeface="Quicksand"/>
              </a:rPr>
              <a:t> (threads ou tarefas) em um sistema operacional, buscando executar operações.</a:t>
            </a:r>
          </a:p>
          <a:p>
            <a:pPr algn="l">
              <a:lnSpc>
                <a:spcPct val="126000"/>
              </a:lnSpc>
              <a:spcBef>
                <a:spcPts val="1781"/>
              </a:spcBef>
              <a:buChar char="•"/>
            </a:pPr>
            <a:r>
              <a:rPr sz="2850">
                <a:latin typeface="Quicksand"/>
              </a:rPr>
              <a:t>  </a:t>
            </a:r>
            <a:r>
              <a:rPr sz="2850">
                <a:solidFill>
                  <a:srgbClr val="161C2E"/>
                </a:solidFill>
                <a:latin typeface="Quicksand"/>
              </a:rPr>
              <a:t>As </a:t>
            </a:r>
            <a:r>
              <a:rPr sz="2850">
                <a:solidFill>
                  <a:srgbClr val="161C2E"/>
                </a:solidFill>
                <a:latin typeface="Quicksand Bold"/>
              </a:rPr>
              <a:t>seções da rua</a:t>
            </a:r>
            <a:r>
              <a:rPr sz="2850">
                <a:solidFill>
                  <a:srgbClr val="161C2E"/>
                </a:solidFill>
                <a:latin typeface="Quicksand"/>
              </a:rPr>
              <a:t> simbolizam os </a:t>
            </a:r>
            <a:r>
              <a:rPr sz="2850" i="1">
                <a:solidFill>
                  <a:srgbClr val="161C2E"/>
                </a:solidFill>
                <a:latin typeface="Quicksand"/>
              </a:rPr>
              <a:t>recursos</a:t>
            </a:r>
            <a:r>
              <a:rPr sz="2850">
                <a:solidFill>
                  <a:srgbClr val="161C2E"/>
                </a:solidFill>
                <a:latin typeface="Quicksand"/>
              </a:rPr>
              <a:t> (memória, CPU, dispositivos I/O) necessários para a conclusão desses processos.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875" y="1790700"/>
            <a:ext cx="7362824" cy="171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161C2E"/>
                </a:solidFill>
                <a:latin typeface="Quicksand Bold"/>
              </a:rPr>
              <a:t>Grafo de Alocação de Recursos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875" y="3813810"/>
            <a:ext cx="7362824" cy="3039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>
                <a:solidFill>
                  <a:srgbClr val="161C2E"/>
                </a:solidFill>
                <a:latin typeface="Quicksand"/>
              </a:rPr>
              <a:t>Um </a:t>
            </a:r>
            <a:r>
              <a:rPr sz="2850">
                <a:solidFill>
                  <a:srgbClr val="161C2E"/>
                </a:solidFill>
                <a:latin typeface="Quicksand Bold"/>
              </a:rPr>
              <a:t>grafo de alocação de recursos</a:t>
            </a:r>
            <a:r>
              <a:rPr sz="2850">
                <a:solidFill>
                  <a:srgbClr val="161C2E"/>
                </a:solidFill>
                <a:latin typeface="Quicksand"/>
              </a:rPr>
              <a:t> é uma ferramenta visual essencial para identificar </a:t>
            </a:r>
            <a:r>
              <a:rPr sz="2850" i="1">
                <a:solidFill>
                  <a:srgbClr val="161C2E"/>
                </a:solidFill>
                <a:latin typeface="Quicksand"/>
              </a:rPr>
              <a:t>deadlocks</a:t>
            </a:r>
            <a:r>
              <a:rPr sz="2850">
                <a:solidFill>
                  <a:srgbClr val="161C2E"/>
                </a:solidFill>
                <a:latin typeface="Quicksand"/>
              </a:rPr>
              <a:t> em sistemas operacionais. Ele representa os </a:t>
            </a:r>
            <a:r>
              <a:rPr sz="2850">
                <a:solidFill>
                  <a:srgbClr val="161C2E"/>
                </a:solidFill>
                <a:latin typeface="Quicksand Bold"/>
              </a:rPr>
              <a:t>processos</a:t>
            </a:r>
            <a:r>
              <a:rPr sz="2850">
                <a:solidFill>
                  <a:srgbClr val="161C2E"/>
                </a:solidFill>
                <a:latin typeface="Quicksand"/>
              </a:rPr>
              <a:t> (retângulos) e os </a:t>
            </a:r>
            <a:r>
              <a:rPr sz="2850">
                <a:solidFill>
                  <a:srgbClr val="161C2E"/>
                </a:solidFill>
                <a:latin typeface="Quicksand Bold"/>
              </a:rPr>
              <a:t>recursos</a:t>
            </a:r>
            <a:r>
              <a:rPr sz="2850">
                <a:solidFill>
                  <a:srgbClr val="161C2E"/>
                </a:solidFill>
                <a:latin typeface="Quicksand"/>
              </a:rPr>
              <a:t> (círculos) do sistema, mostrando suas interações para análise.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9300" y="8582025"/>
            <a:ext cx="7367587" cy="74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 i="1">
                <a:solidFill>
                  <a:srgbClr val="161C2E"/>
                </a:solidFill>
                <a:latin typeface="Quicksand"/>
              </a:rPr>
              <a:t>Grafo de alocação de recursos: visualizando processos e recursos para evitar deadlocks.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b17d98a-228d-4c74-8525-4ed96136fc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638299"/>
            <a:ext cx="7000875" cy="7000875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875" y="8829675"/>
            <a:ext cx="7367587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 i="1">
                <a:solidFill>
                  <a:srgbClr val="161C2E"/>
                </a:solidFill>
                <a:latin typeface="Quicksand"/>
              </a:rPr>
              <a:t>Representação gráfica de um impasse simples entre dois processos e recursos.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9300" y="1790700"/>
            <a:ext cx="7362824" cy="17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161C2E"/>
                </a:solidFill>
                <a:latin typeface="Quicksand Bold"/>
              </a:rPr>
              <a:t>Deadlock Simples: Exemplo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9300" y="3813810"/>
            <a:ext cx="736282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 Bold"/>
              </a:rPr>
              <a:t>Processo P1</a:t>
            </a:r>
            <a:r>
              <a:rPr sz="3000">
                <a:solidFill>
                  <a:srgbClr val="161C2E"/>
                </a:solidFill>
                <a:latin typeface="Quicksand"/>
              </a:rPr>
              <a:t>: Este processo está alocado ao Recurso R1 e, simultaneamente, requisitando o Recurso R2.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 Bold"/>
              </a:rPr>
              <a:t>Processo P2</a:t>
            </a:r>
            <a:r>
              <a:rPr sz="3000">
                <a:solidFill>
                  <a:srgbClr val="161C2E"/>
                </a:solidFill>
                <a:latin typeface="Quicksand"/>
              </a:rPr>
              <a:t>: Este processo está alocado ao Recurso R2 e, simultaneamente, requisitando o Recurso R1.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70471380-a6fe-4f5a-924e-50aaaa8ef5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638299"/>
            <a:ext cx="7000875" cy="7000875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875" y="8829675"/>
            <a:ext cx="7367587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 i="1">
                <a:solidFill>
                  <a:srgbClr val="161C2E"/>
                </a:solidFill>
                <a:latin typeface="Quicksand"/>
              </a:rPr>
              <a:t>Diagrama de espera circular com processos P1 e P2 e recursos R1 e R2.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9300" y="1790700"/>
            <a:ext cx="7362824" cy="8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161C2E"/>
                </a:solidFill>
                <a:latin typeface="Quicksand Bold"/>
              </a:rPr>
              <a:t>Espera Circular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9300" y="2954655"/>
            <a:ext cx="7362824" cy="373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O processo P1: </a:t>
            </a:r>
            <a:r>
              <a:rPr sz="3000">
                <a:solidFill>
                  <a:srgbClr val="161C2E"/>
                </a:solidFill>
                <a:latin typeface="Quicksand Bold"/>
              </a:rPr>
              <a:t>Retém</a:t>
            </a:r>
            <a:r>
              <a:rPr sz="3000">
                <a:solidFill>
                  <a:srgbClr val="161C2E"/>
                </a:solidFill>
                <a:latin typeface="Quicksand"/>
              </a:rPr>
              <a:t> o recurso R1 e aguarda a liberação do recurso R2.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O processo P2: </a:t>
            </a:r>
            <a:r>
              <a:rPr sz="3000">
                <a:solidFill>
                  <a:srgbClr val="161C2E"/>
                </a:solidFill>
                <a:latin typeface="Quicksand Bold"/>
              </a:rPr>
              <a:t>Retém</a:t>
            </a:r>
            <a:r>
              <a:rPr sz="3000">
                <a:solidFill>
                  <a:srgbClr val="161C2E"/>
                </a:solidFill>
                <a:latin typeface="Quicksand"/>
              </a:rPr>
              <a:t> o recurso R2 e aguarda a liberação do recurso R1.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Cada processo: Está em um </a:t>
            </a:r>
            <a:r>
              <a:rPr sz="3000">
                <a:solidFill>
                  <a:srgbClr val="161C2E"/>
                </a:solidFill>
                <a:latin typeface="Quicksand Bold"/>
              </a:rPr>
              <a:t>ciclo de dependência</a:t>
            </a:r>
            <a:r>
              <a:rPr sz="3000">
                <a:solidFill>
                  <a:srgbClr val="161C2E"/>
                </a:solidFill>
                <a:latin typeface="Quicksand"/>
              </a:rPr>
              <a:t>, onde a progressão de um bloqueia a do outro.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695449"/>
            <a:ext cx="13173075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Monitores e Deadlock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006089"/>
            <a:ext cx="1317307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Embora os monitores sejam essenciais para assegurar a </a:t>
            </a:r>
            <a:r>
              <a:rPr sz="3000">
                <a:solidFill>
                  <a:srgbClr val="161C2E"/>
                </a:solidFill>
                <a:latin typeface="Quicksand Bold"/>
              </a:rPr>
              <a:t>exclusão mútua</a:t>
            </a:r>
            <a:r>
              <a:rPr sz="3000">
                <a:solidFill>
                  <a:srgbClr val="161C2E"/>
                </a:solidFill>
                <a:latin typeface="Quicksand"/>
              </a:rPr>
              <a:t> e evitar condições de corrida, eles não resolvem totalmente o problema do </a:t>
            </a:r>
            <a:r>
              <a:rPr sz="3000">
                <a:solidFill>
                  <a:srgbClr val="161C2E"/>
                </a:solidFill>
                <a:latin typeface="Quicksand Bold"/>
              </a:rPr>
              <a:t>deadlock</a:t>
            </a:r>
            <a:r>
              <a:rPr sz="3000">
                <a:solidFill>
                  <a:srgbClr val="161C2E"/>
                </a:solidFill>
                <a:latin typeface="Quicksand"/>
              </a:rPr>
              <a:t>, que pode surgir da disputa por múltiplos recursos.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76499" y="1904999"/>
            <a:ext cx="133349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>
                <a:solidFill>
                  <a:srgbClr val="161C2E"/>
                </a:solidFill>
                <a:latin typeface="Quicksand Bold"/>
              </a:rPr>
              <a:t>Discussão: Monitores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6499" y="2918460"/>
            <a:ext cx="13334999" cy="2133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Considerando que monitores previnem condições de corrida e garantem exclusão mútua, </a:t>
            </a:r>
            <a:r>
              <a:rPr sz="3000" i="1">
                <a:solidFill>
                  <a:srgbClr val="161C2E"/>
                </a:solidFill>
                <a:latin typeface="Quicksand"/>
              </a:rPr>
              <a:t>*qual problema principal persiste na alocação de múltiplos recursos que os monitores, por si só, não conseguem resolver completamente, levando a cenários de </a:t>
            </a:r>
            <a:r>
              <a:rPr sz="3000">
                <a:solidFill>
                  <a:srgbClr val="161C2E"/>
                </a:solidFill>
                <a:latin typeface="Quicksand"/>
              </a:rPr>
              <a:t>deadlock*?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76499" y="1904999"/>
            <a:ext cx="133349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>
                <a:solidFill>
                  <a:srgbClr val="161C2E"/>
                </a:solidFill>
                <a:latin typeface="Quicksand Bold"/>
              </a:rPr>
              <a:t>Discussão: Conflitos de Deadlock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6499" y="2918460"/>
            <a:ext cx="13334999" cy="2133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161C2E"/>
                </a:solidFill>
                <a:latin typeface="Quicksand"/>
              </a:rPr>
              <a:t>Um projetista de sistemas tenta evitar </a:t>
            </a:r>
            <a:r>
              <a:rPr sz="3000">
                <a:solidFill>
                  <a:srgbClr val="161C2E"/>
                </a:solidFill>
                <a:latin typeface="Quicksand Bold"/>
              </a:rPr>
              <a:t>deadlock</a:t>
            </a:r>
            <a:r>
              <a:rPr sz="3000">
                <a:solidFill>
                  <a:srgbClr val="161C2E"/>
                </a:solidFill>
                <a:latin typeface="Quicksand"/>
              </a:rPr>
              <a:t> criando um ambiente de multiprogramação que não compartilha recursos. Considerando os conceitos de </a:t>
            </a:r>
            <a:r>
              <a:rPr sz="3000" i="1">
                <a:solidFill>
                  <a:srgbClr val="161C2E"/>
                </a:solidFill>
                <a:latin typeface="Quicksand"/>
              </a:rPr>
              <a:t>monitores</a:t>
            </a:r>
            <a:r>
              <a:rPr sz="3000">
                <a:solidFill>
                  <a:srgbClr val="161C2E"/>
                </a:solidFill>
                <a:latin typeface="Quicksand"/>
              </a:rPr>
              <a:t> e sincronização, qual a fundamental falha nessa abordagem e como a definiríamos formalmente?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283f9e96-23a5-4822-9797-a794e5da3af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2809875"/>
            <a:ext cx="7000875" cy="4667249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875" y="7667624"/>
            <a:ext cx="7367587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 i="1">
                <a:solidFill>
                  <a:srgbClr val="161C2E"/>
                </a:solidFill>
                <a:latin typeface="Quicksand"/>
              </a:rPr>
              <a:t>O Intel 4004, um marco na tecnologia de microprocessadores.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9300" y="1790700"/>
            <a:ext cx="7362824" cy="17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161C2E"/>
                </a:solidFill>
                <a:latin typeface="Quicksand Bold"/>
              </a:rPr>
              <a:t>Conclusão e Próximos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9300" y="3813810"/>
            <a:ext cx="7362824" cy="4640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2175">
                <a:latin typeface="Quicksand"/>
              </a:rPr>
              <a:t>  </a:t>
            </a:r>
            <a:r>
              <a:rPr sz="2175">
                <a:solidFill>
                  <a:srgbClr val="161C2E"/>
                </a:solidFill>
                <a:latin typeface="Quicksand"/>
              </a:rPr>
              <a:t>A necessidade de </a:t>
            </a:r>
            <a:r>
              <a:rPr sz="2175">
                <a:solidFill>
                  <a:srgbClr val="161C2E"/>
                </a:solidFill>
                <a:latin typeface="Quicksand Bold"/>
              </a:rPr>
              <a:t>Monitores</a:t>
            </a:r>
            <a:r>
              <a:rPr sz="2175">
                <a:solidFill>
                  <a:srgbClr val="161C2E"/>
                </a:solidFill>
                <a:latin typeface="Quicksand"/>
              </a:rPr>
              <a:t> foi destacada para gerenciar a concorrência em sistemas operacionais, prevenindo condições de corrida.</a:t>
            </a:r>
          </a:p>
          <a:p>
            <a:pPr algn="l">
              <a:lnSpc>
                <a:spcPct val="126000"/>
              </a:lnSpc>
              <a:spcBef>
                <a:spcPts val="1359"/>
              </a:spcBef>
              <a:buChar char="•"/>
            </a:pPr>
            <a:r>
              <a:rPr sz="2175">
                <a:latin typeface="Quicksand"/>
              </a:rPr>
              <a:t>  </a:t>
            </a:r>
            <a:r>
              <a:rPr sz="2175">
                <a:solidFill>
                  <a:srgbClr val="161C2E"/>
                </a:solidFill>
                <a:latin typeface="Quicksand"/>
              </a:rPr>
              <a:t>O funcionamento dos </a:t>
            </a:r>
            <a:r>
              <a:rPr sz="2175">
                <a:solidFill>
                  <a:srgbClr val="161C2E"/>
                </a:solidFill>
                <a:latin typeface="Quicksand Bold"/>
              </a:rPr>
              <a:t>Monitores</a:t>
            </a:r>
            <a:r>
              <a:rPr sz="2175">
                <a:solidFill>
                  <a:srgbClr val="161C2E"/>
                </a:solidFill>
                <a:latin typeface="Quicksand"/>
              </a:rPr>
              <a:t> foi detalhado, garantindo a </a:t>
            </a:r>
            <a:r>
              <a:rPr sz="2175" i="1">
                <a:solidFill>
                  <a:srgbClr val="161C2E"/>
                </a:solidFill>
                <a:latin typeface="Quicksand"/>
              </a:rPr>
              <a:t>exclusão mútua</a:t>
            </a:r>
            <a:r>
              <a:rPr sz="2175">
                <a:solidFill>
                  <a:srgbClr val="161C2E"/>
                </a:solidFill>
                <a:latin typeface="Quicksand"/>
              </a:rPr>
              <a:t> de forma estruturada e eficiente.</a:t>
            </a:r>
          </a:p>
          <a:p>
            <a:pPr algn="l">
              <a:lnSpc>
                <a:spcPct val="126000"/>
              </a:lnSpc>
              <a:spcBef>
                <a:spcPts val="1359"/>
              </a:spcBef>
              <a:buChar char="•"/>
            </a:pPr>
            <a:r>
              <a:rPr sz="2175">
                <a:latin typeface="Quicksand"/>
              </a:rPr>
              <a:t>  </a:t>
            </a:r>
            <a:r>
              <a:rPr sz="2175">
                <a:solidFill>
                  <a:srgbClr val="161C2E"/>
                </a:solidFill>
                <a:latin typeface="Quicksand"/>
              </a:rPr>
              <a:t>O conceito de </a:t>
            </a:r>
            <a:r>
              <a:rPr sz="2175">
                <a:solidFill>
                  <a:srgbClr val="161C2E"/>
                </a:solidFill>
                <a:latin typeface="Quicksand Bold"/>
              </a:rPr>
              <a:t>Deadlock</a:t>
            </a:r>
            <a:r>
              <a:rPr sz="2175">
                <a:solidFill>
                  <a:srgbClr val="161C2E"/>
                </a:solidFill>
                <a:latin typeface="Quicksand"/>
              </a:rPr>
              <a:t> foi explorado, compreendendo suas causas intrínsecas e as graves consequências para a performance do sistema.</a:t>
            </a:r>
          </a:p>
          <a:p>
            <a:pPr algn="l">
              <a:lnSpc>
                <a:spcPct val="126000"/>
              </a:lnSpc>
              <a:spcBef>
                <a:spcPts val="1359"/>
              </a:spcBef>
              <a:buChar char="•"/>
            </a:pPr>
            <a:r>
              <a:rPr sz="2175">
                <a:latin typeface="Quicksand"/>
              </a:rPr>
              <a:t>  </a:t>
            </a:r>
            <a:r>
              <a:rPr sz="2175">
                <a:solidFill>
                  <a:srgbClr val="161C2E"/>
                </a:solidFill>
                <a:latin typeface="Quicksand"/>
              </a:rPr>
              <a:t>O </a:t>
            </a:r>
            <a:r>
              <a:rPr sz="2175">
                <a:solidFill>
                  <a:srgbClr val="161C2E"/>
                </a:solidFill>
                <a:latin typeface="Quicksand Bold"/>
              </a:rPr>
              <a:t>Grafo de alocação de recursos</a:t>
            </a:r>
            <a:r>
              <a:rPr sz="2175">
                <a:solidFill>
                  <a:srgbClr val="161C2E"/>
                </a:solidFill>
                <a:latin typeface="Quicksand"/>
              </a:rPr>
              <a:t> demonstrou ser uma ferramenta visual essencial para identificar e analisar cenários de </a:t>
            </a:r>
            <a:r>
              <a:rPr sz="2175" i="1">
                <a:solidFill>
                  <a:srgbClr val="161C2E"/>
                </a:solidFill>
                <a:latin typeface="Quicksand"/>
              </a:rPr>
              <a:t>deadlock</a:t>
            </a:r>
            <a:r>
              <a:rPr sz="2175">
                <a:solidFill>
                  <a:srgbClr val="161C2E"/>
                </a:solidFill>
                <a:latin typeface="Quicksand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abc507c8-a915-4088-bf3c-9177f378a8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74" y="3162299"/>
            <a:ext cx="8239124" cy="7124699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50" y="1276350"/>
            <a:ext cx="767714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Caça-palavras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8ca5e6b6-20f9-4c17-965b-de0546ce24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4" y="0"/>
            <a:ext cx="9134474" cy="10287000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4343092a-fcad-4368-a223-93dbde2aae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0"/>
            <a:ext cx="10287000" cy="10287000"/>
          </a:xfrm>
          <a:prstGeom prst="rect">
            <a:avLst/>
          </a:prstGeom>
        </p:spPr>
      </p:pic>
      <p:pic>
        <p:nvPicPr>
          <p:cNvPr id="4" name="Picture 3" descr="9f0c9d52-8301-4b51-9641-98924f82bb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-ec2405f7-c76b-4ae3-9972-d421666f9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9f0c9d52-8301-4b51-9641-98924f82b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1695449"/>
            <a:ext cx="62484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161C2E"/>
                </a:solidFill>
                <a:latin typeface="Quicksand Bold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999" y="1319212"/>
            <a:ext cx="9391649" cy="7648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Monitores encapsulam dados e procedimentos, fornecendo exclusão mútua estruturada para acessar recursos compartilhados em ambientes concorrentes.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A exclusão mútua garante que apenas um thread acesse o monitor por vez, prevenindo condições de corrida e inconsistência de dados.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Deadlock, uma espera circular por recursos já alocados, impede o progresso dos processos, causando perda de trabalho e falhas.</a:t>
            </a:r>
          </a:p>
          <a:p>
            <a:pPr algn="l">
              <a:lnSpc>
                <a:spcPct val="126000"/>
              </a:lnSpc>
              <a:spcBef>
                <a:spcPts val="1875"/>
              </a:spcBef>
              <a:buChar char="•"/>
            </a:pPr>
            <a:r>
              <a:rPr sz="3000">
                <a:latin typeface="Quicksand"/>
              </a:rPr>
              <a:t>  </a:t>
            </a:r>
            <a:r>
              <a:rPr sz="3000">
                <a:solidFill>
                  <a:srgbClr val="161C2E"/>
                </a:solidFill>
                <a:latin typeface="Quicksand"/>
              </a:rPr>
              <a:t>Grafos de alocação de recursos são cruciais para visualizar e identificar deadlocks, embora monitores sozinhos não os eliminem totalmente.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1415</Words>
  <Application>Microsoft Office PowerPoint</Application>
  <PresentationFormat>Personalizar</PresentationFormat>
  <Paragraphs>84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4" baseType="lpstr">
      <vt:lpstr>Quicksand Bold</vt:lpstr>
      <vt:lpstr>Arial</vt:lpstr>
      <vt:lpstr>Quicksand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2026-04-16T13:16:35Z</dcterms:modified>
  <cp:category/>
</cp:coreProperties>
</file>