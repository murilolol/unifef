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8288000" cy="10287000"/>
  <p:notesSz cx="6858000" cy="9144000"/>
  <p:embeddedFontLst>
    <p:embeddedFont>
      <p:font typeface="Quicksand" panose="020B0604020202020204" charset="0"/>
      <p:regular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Rubik Italic" panose="020B0604020202020204" charset="-79"/>
      <p:regular r:id="rId34"/>
    </p:embeddedFont>
    <p:embeddedFont>
      <p:font typeface="Quicksand Bold" panose="020B0604020202020204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24049" y="2289810"/>
            <a:ext cx="12706349" cy="5029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9000">
                <a:solidFill>
                  <a:srgbClr val="0F151A"/>
                </a:solidFill>
                <a:latin typeface="Quicksand Bold"/>
              </a:rPr>
              <a:t>Sistemas Operacionais: Evolução e Arquiteturas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4049" y="7776210"/>
            <a:ext cx="8858250" cy="796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2850">
                <a:solidFill>
                  <a:srgbClr val="0F151A"/>
                </a:solidFill>
                <a:latin typeface="Quicksand"/>
              </a:rPr>
              <a:t>Da simbiose hardware-software às estratégias de paralelismo moderno.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1695449"/>
            <a:ext cx="7486650" cy="100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0F151A"/>
                </a:solidFill>
                <a:latin typeface="Quicksand Bold"/>
              </a:rPr>
              <a:t>Sumário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4499" y="2533649"/>
            <a:ext cx="7248525" cy="4683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Hardware-Software: A Simbiose Essencial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Jobs, Processos e Threads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Classificando os Sistemas Operacionais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Multiprogramação: Eficiência e Desempenho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Escalabilidade: Acoplamento e Lei de Amdahl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100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0F151A"/>
                </a:solidFill>
                <a:latin typeface="Quicksand Bold"/>
              </a:rPr>
              <a:t>Simbiose: Hardware-Software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350" y="4011929"/>
            <a:ext cx="13173075" cy="1599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323E47"/>
                </a:solidFill>
                <a:latin typeface="Quicksand"/>
              </a:rPr>
              <a:t>A evolução do hardware, de válvulas a transistores, impulsionou sistemas operacionais complexos. Esta intrínseca </a:t>
            </a:r>
            <a:r>
              <a:rPr sz="3000" i="1">
                <a:solidFill>
                  <a:srgbClr val="323E47"/>
                </a:solidFill>
                <a:latin typeface="Quicksand"/>
              </a:rPr>
              <a:t>interdependência</a:t>
            </a:r>
            <a:r>
              <a:rPr sz="3000">
                <a:solidFill>
                  <a:srgbClr val="323E47"/>
                </a:solidFill>
                <a:latin typeface="Quicksand"/>
              </a:rPr>
              <a:t> define a computação moderna.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858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Jobs, Processos e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3718560"/>
            <a:ext cx="13173075" cy="3674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Jobs</a:t>
            </a:r>
            <a:r>
              <a:rPr sz="3000">
                <a:solidFill>
                  <a:srgbClr val="323E47"/>
                </a:solidFill>
                <a:latin typeface="Quicksand"/>
              </a:rPr>
              <a:t>: Representam um bloco de trabalho bruto a ser executado sequencialmente pelo sistema.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Processos</a:t>
            </a:r>
            <a:r>
              <a:rPr sz="3000">
                <a:solidFill>
                  <a:srgbClr val="323E47"/>
                </a:solidFill>
                <a:latin typeface="Quicksand"/>
              </a:rPr>
              <a:t>: São instâncias de programas em execução, com recursos dedicados e isolamento de memória.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Threads</a:t>
            </a:r>
            <a:r>
              <a:rPr sz="3000">
                <a:solidFill>
                  <a:srgbClr val="323E47"/>
                </a:solidFill>
                <a:latin typeface="Quicksand"/>
              </a:rPr>
              <a:t>: Unidades de execução dentro de um processo, permitindo concorrência e paralelismo intrínseco.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20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0F151A"/>
                </a:solidFill>
                <a:latin typeface="Quicksand Bold"/>
              </a:rPr>
              <a:t>Importância da Classificação de 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350" y="4011929"/>
            <a:ext cx="13173075" cy="319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323E47"/>
                </a:solidFill>
                <a:latin typeface="Quicksand"/>
              </a:rPr>
              <a:t>A </a:t>
            </a:r>
            <a:r>
              <a:rPr sz="3000">
                <a:solidFill>
                  <a:srgbClr val="323E47"/>
                </a:solidFill>
                <a:latin typeface="Quicksand Bold"/>
              </a:rPr>
              <a:t>classificação</a:t>
            </a:r>
            <a:r>
              <a:rPr sz="3000">
                <a:solidFill>
                  <a:srgbClr val="323E47"/>
                </a:solidFill>
                <a:latin typeface="Quicksand"/>
              </a:rPr>
              <a:t> dos </a:t>
            </a:r>
            <a:r>
              <a:rPr sz="3000" i="1">
                <a:solidFill>
                  <a:srgbClr val="323E47"/>
                </a:solidFill>
                <a:latin typeface="Quicksand"/>
              </a:rPr>
              <a:t>Sistemas Operacionais</a:t>
            </a:r>
            <a:r>
              <a:rPr sz="3000">
                <a:solidFill>
                  <a:srgbClr val="323E47"/>
                </a:solidFill>
                <a:latin typeface="Quicksand"/>
              </a:rPr>
              <a:t> é crucial para justificar a escolha ideal em cenários diversos. Considera-se que cada ambiente, como IoT, servidores de alto desempenho ou desktops, demanda características e otimizações específicas para garantir a performance e a segurança. Essa diferenciação é fundamental para a alocação eficaz de recursos.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ec87b5-1541-4e1e-b301-2653e13002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0" y="2447924"/>
            <a:ext cx="7000875" cy="5381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5875" y="1790700"/>
            <a:ext cx="7362824" cy="257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Sistemas Monoprogramáveis: Monotarefa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75" y="4672965"/>
            <a:ext cx="7362824" cy="4054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323E47"/>
                </a:solidFill>
                <a:latin typeface="Quicksand"/>
              </a:rPr>
              <a:t>Em </a:t>
            </a:r>
            <a:r>
              <a:rPr sz="2850">
                <a:solidFill>
                  <a:srgbClr val="323E47"/>
                </a:solidFill>
                <a:latin typeface="Quicksand Bold"/>
              </a:rPr>
              <a:t>sistemas monoprogramáveis</a:t>
            </a:r>
            <a:r>
              <a:rPr sz="2850">
                <a:solidFill>
                  <a:srgbClr val="323E47"/>
                </a:solidFill>
                <a:latin typeface="Quicksand"/>
              </a:rPr>
              <a:t>, apenas um programa pode ser executado por vez, seguindo um modelo de execução estritamente sequencial. Isso implica na alocação exclusiva de todos os recursos do sistema a essa única tarefa, impactando diretamente a eficiência e a capacidade de processamento.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8020049"/>
            <a:ext cx="7367587" cy="37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>
                <a:solidFill>
                  <a:srgbClr val="323E47"/>
                </a:solidFill>
                <a:latin typeface="Rubik Italic"/>
              </a:rPr>
              <a:t>Edição de texto em sistemas monoprogramáveis sequenciais.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858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O Gargalo da Ociosidade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3718560"/>
            <a:ext cx="13173075" cy="497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Ociosidade da UCP</a:t>
            </a:r>
            <a:r>
              <a:rPr sz="3000">
                <a:solidFill>
                  <a:srgbClr val="323E47"/>
                </a:solidFill>
                <a:latin typeface="Quicksand"/>
              </a:rPr>
              <a:t>: Em sistemas monoprogramáveis, a UCP permanece inativa durante operações de E/S.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Desperdício de Ciclos</a:t>
            </a:r>
            <a:r>
              <a:rPr sz="3000">
                <a:solidFill>
                  <a:srgbClr val="323E47"/>
                </a:solidFill>
                <a:latin typeface="Quicksand"/>
              </a:rPr>
              <a:t>: Isso resulta em um desperdício significativo de ciclos de clock, limitando a produtividade.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Dependência de E/S</a:t>
            </a:r>
            <a:r>
              <a:rPr sz="3000">
                <a:solidFill>
                  <a:srgbClr val="323E47"/>
                </a:solidFill>
                <a:latin typeface="Quicksand"/>
              </a:rPr>
              <a:t>: A velocidade da UCP é subutilizada ao aguardar periféricos lentos.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Ineficiência Inherente</a:t>
            </a:r>
            <a:r>
              <a:rPr sz="3000">
                <a:solidFill>
                  <a:srgbClr val="323E47"/>
                </a:solidFill>
                <a:latin typeface="Quicksand"/>
              </a:rPr>
              <a:t>: A execução linear impõe um limite inerente à eficiência do sistema.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100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0F151A"/>
                </a:solidFill>
                <a:latin typeface="Quicksand Bold"/>
              </a:rPr>
              <a:t>Monotarefa: Relevância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350" y="4011929"/>
            <a:ext cx="13173075" cy="2132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323E47"/>
                </a:solidFill>
                <a:latin typeface="Quicksand"/>
              </a:rPr>
              <a:t>Embora a multitarefa domine, sistemas </a:t>
            </a:r>
            <a:r>
              <a:rPr sz="3000">
                <a:solidFill>
                  <a:srgbClr val="323E47"/>
                </a:solidFill>
                <a:latin typeface="Quicksand Bold"/>
              </a:rPr>
              <a:t>monotarefa</a:t>
            </a:r>
            <a:r>
              <a:rPr sz="3000">
                <a:solidFill>
                  <a:srgbClr val="323E47"/>
                </a:solidFill>
                <a:latin typeface="Quicksand"/>
              </a:rPr>
              <a:t> persistem em </a:t>
            </a:r>
            <a:r>
              <a:rPr sz="3000" i="1">
                <a:solidFill>
                  <a:srgbClr val="323E47"/>
                </a:solidFill>
                <a:latin typeface="Quicksand"/>
              </a:rPr>
              <a:t>nichos especializados</a:t>
            </a:r>
            <a:r>
              <a:rPr sz="3000">
                <a:solidFill>
                  <a:srgbClr val="323E47"/>
                </a:solidFill>
                <a:latin typeface="Quicksand"/>
              </a:rPr>
              <a:t>, como microcontroladores e sistemas embarcados simples. Sua arquitetura otimiza recursos e consumo, sendo uma escolha de design deliberada para aplicações de baixo custo e alta eficiência energética.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0cd6c56-1672-44ef-93b5-4fc1b5f44a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638299"/>
            <a:ext cx="7000875" cy="7000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39300" y="1790700"/>
            <a:ext cx="7362824" cy="171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Revolução Multitarefa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9300" y="3813810"/>
            <a:ext cx="7362824" cy="152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323E47"/>
                </a:solidFill>
                <a:latin typeface="Quicksand"/>
              </a:rPr>
              <a:t>Simultaneidade ilusória, otimização de recursos: o salto quântico na eficiência computacional.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8829675"/>
            <a:ext cx="7367587" cy="74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>
                <a:solidFill>
                  <a:srgbClr val="323E47"/>
                </a:solidFill>
                <a:latin typeface="Rubik Italic"/>
              </a:rPr>
              <a:t>Redes neurais abstratas: complexidade e conexões dinâmicas.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858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Compartilhamento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3718560"/>
            <a:ext cx="13173075" cy="314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Time-Sharing</a:t>
            </a:r>
            <a:r>
              <a:rPr sz="3000">
                <a:solidFill>
                  <a:srgbClr val="323E47"/>
                </a:solidFill>
                <a:latin typeface="Quicksand"/>
              </a:rPr>
              <a:t>: O SO aloca fatias de tempo da CPU para processos simultâneos.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Memória</a:t>
            </a:r>
            <a:r>
              <a:rPr sz="3000">
                <a:solidFill>
                  <a:srgbClr val="323E47"/>
                </a:solidFill>
                <a:latin typeface="Quicksand"/>
              </a:rPr>
              <a:t>: Gerencia o espaço para evitar conflitos entre programas e dados.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Virtualização</a:t>
            </a:r>
            <a:r>
              <a:rPr sz="3000">
                <a:solidFill>
                  <a:srgbClr val="323E47"/>
                </a:solidFill>
                <a:latin typeface="Quicksand"/>
              </a:rPr>
              <a:t>: Cria ambientes lógicos isolados para cada processo ou usuário.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76350" y="2876549"/>
            <a:ext cx="7667624" cy="6191250"/>
          </a:xfrm>
          <a:prstGeom prst="roundRect">
            <a:avLst>
              <a:gd name="adj" fmla="val 5555"/>
            </a:avLst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324975" y="2876549"/>
            <a:ext cx="7667624" cy="6191250"/>
          </a:xfrm>
          <a:prstGeom prst="roundRect">
            <a:avLst>
              <a:gd name="adj" fmla="val 5555"/>
            </a:avLst>
          </a:prstGeom>
          <a:solidFill>
            <a:srgbClr val="D5E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76350" y="1276350"/>
            <a:ext cx="15716250" cy="83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9000"/>
              </a:lnSpc>
            </a:pPr>
            <a:r>
              <a:rPr sz="6000">
                <a:solidFill>
                  <a:srgbClr val="0F151A"/>
                </a:solidFill>
                <a:latin typeface="Quicksand Bold"/>
              </a:rPr>
              <a:t>Mecanismos de Controle de Processos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7350" y="3257550"/>
            <a:ext cx="6905625" cy="45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>
                <a:solidFill>
                  <a:srgbClr val="0F151A"/>
                </a:solidFill>
                <a:latin typeface="Quicksand Bold"/>
              </a:rPr>
              <a:t>Interrupções e Preempção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7350" y="3905249"/>
            <a:ext cx="6905625" cy="2131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323E47"/>
                </a:solidFill>
                <a:latin typeface="Quicksand"/>
              </a:rPr>
              <a:t>Interrupções e a preempção são essenciais para o controle do tempo de CPU. Elas permitem que o sistema operacional intervenha, suspendendo um processo em execução para alocar recursos a outro, garantindo a multitarefa eficiente.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05974" y="3257550"/>
            <a:ext cx="6905625" cy="45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>
                <a:solidFill>
                  <a:srgbClr val="0F151A"/>
                </a:solidFill>
                <a:latin typeface="Quicksand Bold"/>
              </a:rPr>
              <a:t>Acesso Concorrente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5974" y="3905249"/>
            <a:ext cx="6905625" cy="2558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400">
                <a:solidFill>
                  <a:srgbClr val="323E47"/>
                </a:solidFill>
                <a:latin typeface="Quicksand"/>
              </a:rPr>
              <a:t>O gerenciamento de acesso concorrente previne </a:t>
            </a:r>
            <a:r>
              <a:rPr sz="2400" i="1">
                <a:solidFill>
                  <a:srgbClr val="323E47"/>
                </a:solidFill>
                <a:latin typeface="Quicksand"/>
              </a:rPr>
              <a:t>race conditions</a:t>
            </a:r>
            <a:r>
              <a:rPr sz="2400">
                <a:solidFill>
                  <a:srgbClr val="323E47"/>
                </a:solidFill>
                <a:latin typeface="Quicksand"/>
              </a:rPr>
              <a:t> (condições de corrida), assegurando que operações críticas sobre dados compartilhados sejam executadas de forma atômica. Isso garante a consistência e a integridade dos dados.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171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Turnaround e Throughput: Otimização da Multiprogramação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5436870"/>
            <a:ext cx="13173075" cy="497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Turnaround</a:t>
            </a:r>
            <a:r>
              <a:rPr sz="3000">
                <a:solidFill>
                  <a:srgbClr val="323E47"/>
                </a:solidFill>
                <a:latin typeface="Quicksand"/>
              </a:rPr>
              <a:t>: Reduz o tempo total de processamento, melhorando a </a:t>
            </a:r>
            <a:r>
              <a:rPr sz="3000" i="1">
                <a:solidFill>
                  <a:srgbClr val="323E47"/>
                </a:solidFill>
                <a:latin typeface="Quicksand"/>
              </a:rPr>
              <a:t>eficiência</a:t>
            </a:r>
            <a:r>
              <a:rPr sz="3000">
                <a:solidFill>
                  <a:srgbClr val="323E47"/>
                </a:solidFill>
                <a:latin typeface="Quicksand"/>
              </a:rPr>
              <a:t> da execução de tarefas.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Throughput</a:t>
            </a:r>
            <a:r>
              <a:rPr sz="3000">
                <a:solidFill>
                  <a:srgbClr val="323E47"/>
                </a:solidFill>
                <a:latin typeface="Quicksand"/>
              </a:rPr>
              <a:t>: Aumenta a vazão de tarefas processadas por unidade de tempo, maximizando o uso da CPU.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Vantagem Técnica</a:t>
            </a:r>
            <a:r>
              <a:rPr sz="3000">
                <a:solidFill>
                  <a:srgbClr val="323E47"/>
                </a:solidFill>
                <a:latin typeface="Quicksand"/>
              </a:rPr>
              <a:t>: Permite o compartilhamento de recursos, minimizando ociodade do processador.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Vantagem Econômica</a:t>
            </a:r>
            <a:r>
              <a:rPr sz="3000">
                <a:solidFill>
                  <a:srgbClr val="323E47"/>
                </a:solidFill>
                <a:latin typeface="Quicksand"/>
              </a:rPr>
              <a:t>: Reduz custos operacionais ao otimizar o desempenho do sistema.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7429500" cy="670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4800">
                <a:solidFill>
                  <a:srgbClr val="0F151A"/>
                </a:solidFill>
                <a:latin typeface="Quicksand Bold"/>
              </a:rPr>
              <a:t>Sistemas Monousuário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39300" y="1695449"/>
            <a:ext cx="7429500" cy="670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4800">
                <a:solidFill>
                  <a:srgbClr val="0F151A"/>
                </a:solidFill>
                <a:latin typeface="Quicksand Bold"/>
              </a:rPr>
              <a:t>Sistemas Multiusuário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2670810"/>
            <a:ext cx="7429500" cy="304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323E47"/>
                </a:solidFill>
                <a:latin typeface="Quicksand"/>
              </a:rPr>
              <a:t>Focados em um único usuário, permitem </a:t>
            </a:r>
            <a:r>
              <a:rPr sz="2850" i="1">
                <a:solidFill>
                  <a:srgbClr val="323E47"/>
                </a:solidFill>
                <a:latin typeface="Quicksand"/>
              </a:rPr>
              <a:t>multitarefa</a:t>
            </a:r>
            <a:r>
              <a:rPr sz="2850">
                <a:solidFill>
                  <a:srgbClr val="323E47"/>
                </a:solidFill>
                <a:latin typeface="Quicksand"/>
              </a:rPr>
              <a:t> para otimizar a experiência individual. Exemplos incluem estações de trabalho como o Windows 11 Desktop, onde múltiplos processos executam em um só contexto de usuário.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2670810"/>
            <a:ext cx="7429500" cy="304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323E47"/>
                </a:solidFill>
                <a:latin typeface="Quicksand"/>
              </a:rPr>
              <a:t>Projetados para atender múltiplos usuários simultaneamente, cada qual com seu ambiente e recursos dedicados. Servidores Linux e Mainframes são exemplos clássicos que gerenciam a concorrência de acessos eficientemente.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20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0F151A"/>
                </a:solidFill>
                <a:latin typeface="Quicksand Bold"/>
              </a:rPr>
              <a:t>Sistemas de Multiprocessamento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6350" y="4011929"/>
            <a:ext cx="13173075" cy="2132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323E47"/>
                </a:solidFill>
                <a:latin typeface="Quicksand"/>
              </a:rPr>
              <a:t>Sistemas de multiprocessamento empregam duas ou mais </a:t>
            </a:r>
            <a:r>
              <a:rPr sz="3000">
                <a:solidFill>
                  <a:srgbClr val="323E47"/>
                </a:solidFill>
                <a:latin typeface="Quicksand Bold"/>
              </a:rPr>
              <a:t>UCPs</a:t>
            </a:r>
            <a:r>
              <a:rPr sz="3000">
                <a:solidFill>
                  <a:srgbClr val="323E47"/>
                </a:solidFill>
                <a:latin typeface="Quicksand"/>
              </a:rPr>
              <a:t> (</a:t>
            </a:r>
            <a:r>
              <a:rPr sz="3000" i="1">
                <a:solidFill>
                  <a:srgbClr val="323E47"/>
                </a:solidFill>
                <a:latin typeface="Quicksand"/>
              </a:rPr>
              <a:t>Unidades Centrais de Processamento</a:t>
            </a:r>
            <a:r>
              <a:rPr sz="3000">
                <a:solidFill>
                  <a:srgbClr val="323E47"/>
                </a:solidFill>
                <a:latin typeface="Quicksand"/>
              </a:rPr>
              <a:t>) que compartilham barramento, relógio e, frequentemente, memória principal. Isso permite o </a:t>
            </a:r>
            <a:r>
              <a:rPr sz="3000">
                <a:solidFill>
                  <a:srgbClr val="323E47"/>
                </a:solidFill>
                <a:latin typeface="Quicksand Bold"/>
              </a:rPr>
              <a:t>paralelismo real</a:t>
            </a:r>
            <a:r>
              <a:rPr sz="3000">
                <a:solidFill>
                  <a:srgbClr val="323E47"/>
                </a:solidFill>
                <a:latin typeface="Quicksand"/>
              </a:rPr>
              <a:t>, contrastando com a </a:t>
            </a:r>
            <a:r>
              <a:rPr sz="3000" i="1">
                <a:solidFill>
                  <a:srgbClr val="323E47"/>
                </a:solidFill>
                <a:latin typeface="Quicksand"/>
              </a:rPr>
              <a:t>concorrência</a:t>
            </a:r>
            <a:r>
              <a:rPr sz="3000">
                <a:solidFill>
                  <a:srgbClr val="323E47"/>
                </a:solidFill>
                <a:latin typeface="Quicksand"/>
              </a:rPr>
              <a:t> obtida em sistemas de UCP única.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0218" y="1276350"/>
            <a:ext cx="8117032" cy="1795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6150" dirty="0" err="1">
                <a:solidFill>
                  <a:srgbClr val="0F151A"/>
                </a:solidFill>
                <a:latin typeface="Quicksand Bold"/>
              </a:rPr>
              <a:t>Pilares</a:t>
            </a:r>
            <a:r>
              <a:rPr sz="6150" dirty="0">
                <a:solidFill>
                  <a:srgbClr val="0F151A"/>
                </a:solidFill>
                <a:latin typeface="Quicksand Bold"/>
              </a:rPr>
              <a:t> do </a:t>
            </a:r>
            <a:r>
              <a:rPr sz="6150" dirty="0" err="1">
                <a:solidFill>
                  <a:srgbClr val="0F151A"/>
                </a:solidFill>
                <a:latin typeface="Quicksand Bold"/>
              </a:rPr>
              <a:t>Multiprocessamento</a:t>
            </a:r>
            <a:endParaRPr sz="6150" dirty="0">
              <a:solidFill>
                <a:srgbClr val="0F151A"/>
              </a:solidFill>
              <a:latin typeface="Quicksand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0" y="101917"/>
            <a:ext cx="7867649" cy="548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>
                <a:solidFill>
                  <a:srgbClr val="0F151A"/>
                </a:solidFill>
                <a:latin typeface="Quicksand Bold"/>
              </a:rPr>
              <a:t>Escalabilidade Intrínseca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0" y="793432"/>
            <a:ext cx="8534399" cy="2302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6000"/>
              </a:lnSpc>
            </a:pPr>
            <a:r>
              <a:rPr sz="2850" dirty="0">
                <a:solidFill>
                  <a:srgbClr val="323E47"/>
                </a:solidFill>
                <a:latin typeface="Quicksand"/>
              </a:rPr>
              <a:t>A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escalabilidade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intrínseca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permite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o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ganho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de performance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proporcional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à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adição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de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recursos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de hardware. Este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princípio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é fundamental para o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crescimento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do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poder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computacional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784282"/>
            <a:ext cx="7867649" cy="54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>
                <a:solidFill>
                  <a:srgbClr val="0F151A"/>
                </a:solidFill>
                <a:latin typeface="Quicksand Bold"/>
              </a:rPr>
              <a:t>Disponibilidade Contínua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0" y="4475797"/>
            <a:ext cx="8534399" cy="2302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6000"/>
              </a:lnSpc>
            </a:pPr>
            <a:r>
              <a:rPr sz="2850" dirty="0">
                <a:solidFill>
                  <a:srgbClr val="323E47"/>
                </a:solidFill>
                <a:latin typeface="Quicksand"/>
              </a:rPr>
              <a:t>A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disponibilidade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assegura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a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tolerância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a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falhas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através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da </a:t>
            </a:r>
            <a:r>
              <a:rPr sz="2850" i="1" dirty="0" err="1">
                <a:solidFill>
                  <a:srgbClr val="323E47"/>
                </a:solidFill>
                <a:latin typeface="Quicksand"/>
              </a:rPr>
              <a:t>degradação</a:t>
            </a:r>
            <a:r>
              <a:rPr sz="2850" i="1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i="1" dirty="0" err="1">
                <a:solidFill>
                  <a:srgbClr val="323E47"/>
                </a:solidFill>
                <a:latin typeface="Quicksand"/>
              </a:rPr>
              <a:t>graciosa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.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Isso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minimiza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interrupções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,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mantendo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a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operabilidade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do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sistema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959917"/>
            <a:ext cx="7867649" cy="54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dirty="0" err="1">
                <a:solidFill>
                  <a:srgbClr val="0F151A"/>
                </a:solidFill>
                <a:latin typeface="Quicksand Bold"/>
              </a:rPr>
              <a:t>Balanceamento</a:t>
            </a:r>
            <a:r>
              <a:rPr sz="3600" dirty="0">
                <a:solidFill>
                  <a:srgbClr val="0F151A"/>
                </a:solidFill>
                <a:latin typeface="Quicksand Bold"/>
              </a:rPr>
              <a:t> de </a:t>
            </a:r>
            <a:r>
              <a:rPr sz="3600" dirty="0" err="1">
                <a:solidFill>
                  <a:srgbClr val="0F151A"/>
                </a:solidFill>
                <a:latin typeface="Quicksand Bold"/>
              </a:rPr>
              <a:t>Carga</a:t>
            </a:r>
            <a:endParaRPr sz="3600" dirty="0">
              <a:solidFill>
                <a:srgbClr val="0F151A"/>
              </a:solidFill>
              <a:latin typeface="Quicksand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0" y="7651432"/>
            <a:ext cx="8534399" cy="2855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6000"/>
              </a:lnSpc>
            </a:pPr>
            <a:r>
              <a:rPr sz="2850" dirty="0">
                <a:solidFill>
                  <a:srgbClr val="323E47"/>
                </a:solidFill>
                <a:latin typeface="Quicksand"/>
              </a:rPr>
              <a:t>O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balanceamento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de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carga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distribui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eficientemente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as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requisições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entre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os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processadores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. O </a:t>
            </a:r>
            <a:r>
              <a:rPr sz="2850" i="1" dirty="0">
                <a:solidFill>
                  <a:srgbClr val="323E47"/>
                </a:solidFill>
                <a:latin typeface="Quicksand"/>
              </a:rPr>
              <a:t>load balancing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otimiza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a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utilização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dos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recursos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,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prevenindo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sobrecargas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 e </a:t>
            </a:r>
            <a:r>
              <a:rPr sz="2850" dirty="0" err="1">
                <a:solidFill>
                  <a:srgbClr val="323E47"/>
                </a:solidFill>
                <a:latin typeface="Quicksand"/>
              </a:rPr>
              <a:t>gargalos</a:t>
            </a:r>
            <a:r>
              <a:rPr sz="2850" dirty="0">
                <a:solidFill>
                  <a:srgbClr val="323E47"/>
                </a:solidFill>
                <a:latin typeface="Quicksand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06b6181-b124-4b66-b1ae-8184188b5c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3390899"/>
            <a:ext cx="7000875" cy="3505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39300" y="1790700"/>
            <a:ext cx="7362824" cy="171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Aplicações de Alto 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9300" y="3813810"/>
            <a:ext cx="7362824" cy="3041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323E47"/>
                </a:solidFill>
                <a:latin typeface="Quicksand"/>
              </a:rPr>
              <a:t>O multiprocessamento é fundamental para otimizar aplicações complexas, como simulações climáticas de alta resolução, prospecção de petróleo e renderização cinematográfica. Essas tarefas exigem poder computacional massivo.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7086600"/>
            <a:ext cx="7367587" cy="74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>
                <a:solidFill>
                  <a:srgbClr val="323E47"/>
                </a:solidFill>
                <a:latin typeface="Rubik Italic"/>
              </a:rPr>
              <a:t>Visualização de aerossóis globais: simulações climáticas de alta resolução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76350" y="1695449"/>
            <a:ext cx="13173075" cy="171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Sistemas Fortemente Acoplados (SMP)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7350" y="4577715"/>
            <a:ext cx="13173075" cy="497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Acoplamento:</a:t>
            </a:r>
            <a:r>
              <a:rPr sz="3000">
                <a:solidFill>
                  <a:srgbClr val="323E47"/>
                </a:solidFill>
                <a:latin typeface="Quicksand"/>
              </a:rPr>
              <a:t> Classifica a interconexão entre processadores e sua forma de comunicação.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Memória Compartilhada:</a:t>
            </a:r>
            <a:r>
              <a:rPr sz="3000">
                <a:solidFill>
                  <a:srgbClr val="323E47"/>
                </a:solidFill>
                <a:latin typeface="Quicksand"/>
              </a:rPr>
              <a:t> Todos os processadores acessam uma única memória física, simplificando o modelo de programação.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Baixa Latência:</a:t>
            </a:r>
            <a:r>
              <a:rPr sz="3000">
                <a:solidFill>
                  <a:srgbClr val="323E47"/>
                </a:solidFill>
                <a:latin typeface="Quicksand"/>
              </a:rPr>
              <a:t> A comunicação interprocessador ocorre rapidamente devido ao acesso direto à memória comum.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 Bold"/>
              </a:rPr>
              <a:t>Multiprocessamento Simétrico (SMP):</a:t>
            </a:r>
            <a:r>
              <a:rPr sz="3000">
                <a:solidFill>
                  <a:srgbClr val="323E47"/>
                </a:solidFill>
                <a:latin typeface="Quicksand"/>
              </a:rPr>
              <a:t> Múltiplos processadores idênticos compartilham recursos, incluindo o sistema operacional.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2459b6b-f35b-4d2b-ad76-7e7f77776c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0" y="1638299"/>
            <a:ext cx="5600700" cy="7000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5875" y="1790700"/>
            <a:ext cx="7362824" cy="3435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6150">
                <a:solidFill>
                  <a:srgbClr val="0F151A"/>
                </a:solidFill>
                <a:latin typeface="Quicksand Bold"/>
              </a:rPr>
              <a:t>Sistemas Fracamente Acoplados (Clusters)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75" y="5532120"/>
            <a:ext cx="7362824" cy="2534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850">
                <a:solidFill>
                  <a:srgbClr val="323E47"/>
                </a:solidFill>
                <a:latin typeface="Quicksand"/>
              </a:rPr>
              <a:t>Em </a:t>
            </a:r>
            <a:r>
              <a:rPr sz="2850">
                <a:solidFill>
                  <a:srgbClr val="323E47"/>
                </a:solidFill>
                <a:latin typeface="Quicksand Bold"/>
              </a:rPr>
              <a:t>sistemas fracamente acoplados</a:t>
            </a:r>
            <a:r>
              <a:rPr sz="2850">
                <a:solidFill>
                  <a:srgbClr val="323E47"/>
                </a:solidFill>
                <a:latin typeface="Quicksand"/>
              </a:rPr>
              <a:t>, cada nó possui sua própria memória distribuída, comunicando-se via </a:t>
            </a:r>
            <a:r>
              <a:rPr sz="2850" i="1">
                <a:solidFill>
                  <a:srgbClr val="323E47"/>
                </a:solidFill>
                <a:latin typeface="Quicksand"/>
              </a:rPr>
              <a:t>Message Passing</a:t>
            </a:r>
            <a:r>
              <a:rPr sz="2850">
                <a:solidFill>
                  <a:srgbClr val="323E47"/>
                </a:solidFill>
                <a:latin typeface="Quicksand"/>
              </a:rPr>
              <a:t> através da rede. Essa arquitetura facilita a expansão geográfica e modular.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9300" y="8829675"/>
            <a:ext cx="7367587" cy="746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2100">
                <a:solidFill>
                  <a:srgbClr val="323E47"/>
                </a:solidFill>
                <a:latin typeface="Rubik Italic"/>
              </a:rPr>
              <a:t>Data centers house the distributed memory nodes of loosely coupled systems.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543050"/>
          <a:ext cx="15544797" cy="7200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79"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8D6E0D"/>
                          </a:solidFill>
                          <a:latin typeface="Quicksand Bold"/>
                        </a:rPr>
                        <a:t>Atributo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8D6E0D"/>
                          </a:solidFill>
                          <a:latin typeface="Quicksand Bold"/>
                        </a:rPr>
                        <a:t>Fortemente Acoplado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8D6E0D"/>
                          </a:solidFill>
                          <a:latin typeface="Quicksand Bold"/>
                        </a:rPr>
                        <a:t>Fracamente Acoplado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Memória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Compartilhada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Distribuída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Latência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Baixa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Alta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Escalabilidade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Limitada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Alta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SO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Único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Múltiplos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4cae44c-838f-4b86-a6e7-cecd1e16d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6499" y="1904999"/>
            <a:ext cx="13334999" cy="822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>
                <a:solidFill>
                  <a:srgbClr val="323E47"/>
                </a:solidFill>
                <a:latin typeface="Quicksand Bold"/>
              </a:rPr>
              <a:t>Escalabilidade Pós-Lei de Moore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499" y="2918460"/>
            <a:ext cx="13334999" cy="1066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323E47"/>
                </a:solidFill>
                <a:latin typeface="Quicksand"/>
              </a:rPr>
              <a:t>Frente ao fim da Lei de Moore, qual o impacto no desenvolvedor entre acoplamento forte e sistemas distribuídos?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4cae44c-838f-4b86-a6e7-cecd1e16d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6499" y="1904999"/>
            <a:ext cx="13334999" cy="822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>
                <a:solidFill>
                  <a:srgbClr val="323E47"/>
                </a:solidFill>
                <a:latin typeface="Quicksand Bold"/>
              </a:rPr>
              <a:t>Diagnóstico de Arquiteturas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6499" y="2918460"/>
            <a:ext cx="13334999" cy="533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</a:pPr>
            <a:r>
              <a:rPr sz="3000">
                <a:solidFill>
                  <a:srgbClr val="323E47"/>
                </a:solidFill>
                <a:latin typeface="Quicksand"/>
              </a:rPr>
              <a:t>Associe cada cenário da Coluna A à classificação correta na Coluna 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543050"/>
          <a:ext cx="15544800" cy="7200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79"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8D6E0D"/>
                          </a:solidFill>
                          <a:latin typeface="Quicksand Bold"/>
                        </a:rPr>
                        <a:t>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8D6E0D"/>
                          </a:solidFill>
                          <a:latin typeface="Quicksand Bold"/>
                        </a:rPr>
                        <a:t>B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1. Servidor DB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 ) Fortemente Acoplado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2. Cluster Meteorológico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 ) Fortemente Acoplado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3. Microcontrolador Sensor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 ) Multiprogramável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4. Usuário (Música/Texto)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 ) Monoprogramável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cae44c-838f-4b86-a6e7-cecd1e16d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543050"/>
          <a:ext cx="15544800" cy="7200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79"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8D6E0D"/>
                          </a:solidFill>
                          <a:latin typeface="Quicksand Bold"/>
                        </a:rPr>
                        <a:t>A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>
                          <a:solidFill>
                            <a:srgbClr val="8D6E0D"/>
                          </a:solidFill>
                          <a:latin typeface="Quicksand Bold"/>
                        </a:rPr>
                        <a:t>B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1. Servidor DB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(**2**) Fortemente Acoplado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2. Cluster Meteorológico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(**1**) Fortemente Acoplado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3. Microcontrolador Sensor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(**4**) Multiprogramável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179"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4. Usuário (Música/Texto)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250">
                          <a:solidFill>
                            <a:srgbClr val="0F151A"/>
                          </a:solidFill>
                          <a:latin typeface="Quicksand"/>
                        </a:rPr>
                        <a:t>(**3**) Monoprogramável</a:t>
                      </a:r>
                    </a:p>
                  </a:txBody>
                  <a:tcPr anchor="ctr">
                    <a:lnL w="12700">
                      <a:solidFill>
                        <a:srgbClr val="8D6E0D"/>
                      </a:solidFill>
                    </a:lnL>
                    <a:lnR w="12700">
                      <a:solidFill>
                        <a:srgbClr val="8D6E0D"/>
                      </a:solidFill>
                    </a:lnR>
                    <a:lnT w="12700">
                      <a:solidFill>
                        <a:srgbClr val="8D6E0D"/>
                      </a:solidFill>
                    </a:lnT>
                    <a:lnB w="12700">
                      <a:solidFill>
                        <a:srgbClr val="8D6E0D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6455250-9f71-4718-a8fc-b232ad3b4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4" y="1276350"/>
            <a:ext cx="10029825" cy="9029700"/>
          </a:xfrm>
          <a:prstGeom prst="rect">
            <a:avLst/>
          </a:prstGeom>
        </p:spPr>
      </p:pic>
      <p:pic>
        <p:nvPicPr>
          <p:cNvPr id="3" name="Picture 2" descr="24cae44c-838f-4b86-a6e7-cecd1e16d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76350" y="1276350"/>
            <a:ext cx="7677149" cy="914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7200">
                <a:solidFill>
                  <a:srgbClr val="0F151A"/>
                </a:solidFill>
                <a:latin typeface="Quicksand Bold"/>
              </a:rPr>
              <a:t>Cruzadinha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ecbec44-8390-4aa0-a106-584e73964d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4" y="0"/>
            <a:ext cx="7753349" cy="10287000"/>
          </a:xfrm>
          <a:prstGeom prst="rect">
            <a:avLst/>
          </a:prstGeom>
        </p:spPr>
      </p:pic>
      <p:pic>
        <p:nvPicPr>
          <p:cNvPr id="3" name="Picture 2" descr="24cae44c-838f-4b86-a6e7-cecd1e16d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5b389f-5f85-4736-a9fe-3a3112dbea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0"/>
            <a:ext cx="10287000" cy="10287000"/>
          </a:xfrm>
          <a:prstGeom prst="rect">
            <a:avLst/>
          </a:prstGeom>
        </p:spPr>
      </p:pic>
      <p:pic>
        <p:nvPicPr>
          <p:cNvPr id="3" name="Picture 2" descr="24cae44c-838f-4b86-a6e7-cecd1e16d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cae44c-838f-4b86-a6e7-cecd1e16d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4474" y="8858250"/>
            <a:ext cx="761999" cy="761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695449"/>
            <a:ext cx="6248400" cy="100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9000"/>
              </a:lnSpc>
            </a:pPr>
            <a:r>
              <a:rPr sz="7200">
                <a:solidFill>
                  <a:srgbClr val="0F151A"/>
                </a:solidFill>
                <a:latin typeface="Quicksand Bold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99" y="1585912"/>
            <a:ext cx="9391649" cy="711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A evolução do hardware, de válvulas a transistores, impulsionou a crescente complexidade do software do SO.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Processos e Threads foram cruciais para transicionar de execução sequencial para eficiente paralelismo lógico.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Sistemas multiprogramáveis otimizam recursos via time-sharing, aumentando Throughput e reduzindo Turnaround.</a:t>
            </a:r>
          </a:p>
          <a:p>
            <a:endParaRPr sz="3000">
              <a:solidFill>
                <a:srgbClr val="323E47"/>
              </a:solidFill>
              <a:latin typeface="Quicksand"/>
            </a:endParaRPr>
          </a:p>
          <a:p>
            <a:pPr algn="l">
              <a:buChar char="•"/>
            </a:pPr>
            <a:r>
              <a:rPr sz="3000">
                <a:solidFill>
                  <a:srgbClr val="323E47"/>
                </a:solidFill>
                <a:latin typeface="Quicksand"/>
              </a:rPr>
              <a:t>A Lei de Amdahl demonstra que a escalabilidade paralela é limitada pela porção serial inerente ao código.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1136</Words>
  <Application>Microsoft Office PowerPoint</Application>
  <PresentationFormat>Personalizar</PresentationFormat>
  <Paragraphs>132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Quicksand</vt:lpstr>
      <vt:lpstr>Calibri</vt:lpstr>
      <vt:lpstr>Rubik Italic</vt:lpstr>
      <vt:lpstr>Quicksand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2026-03-12T12:43:08Z</dcterms:modified>
  <cp:category/>
</cp:coreProperties>
</file>