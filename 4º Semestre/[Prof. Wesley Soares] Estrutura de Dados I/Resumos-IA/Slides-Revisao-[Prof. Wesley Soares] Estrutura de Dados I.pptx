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046720" y="-1828800"/>
            <a:ext cx="6400800" cy="6400800"/>
          </a:xfrm>
          <a:prstGeom prst="ellipse">
            <a:avLst/>
          </a:prstGeom>
          <a:solidFill>
            <a:srgbClr val="2DD4B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3840480"/>
            <a:ext cx="5486400" cy="5486400"/>
          </a:xfrm>
          <a:prstGeom prst="ellipse">
            <a:avLst/>
          </a:prstGeom>
          <a:solidFill>
            <a:srgbClr val="818CF8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777240"/>
            <a:ext cx="4160520" cy="457200"/>
          </a:xfrm>
          <a:prstGeom prst="roundRect">
            <a:avLst>
              <a:gd name="adj" fmla="val 50000"/>
            </a:avLst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772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2DD4BF"/>
                </a:solidFill>
                <a:latin typeface="Segoe UI"/>
              </a:rPr>
              <a:t>🎓 SISTEMAS DE INFORMAÇÃO · UNIFEF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21031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1F5F9"/>
                </a:solidFill>
                <a:latin typeface="Segoe UI"/>
              </a:rPr>
              <a:t>Estrutura de Dados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160520"/>
            <a:ext cx="502920" cy="41148"/>
          </a:xfrm>
          <a:prstGeom prst="roundRect">
            <a:avLst>
              <a:gd name="adj" fmla="val 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4A3B8"/>
                </a:solidFill>
                <a:latin typeface="Segoe UI"/>
              </a:rPr>
              <a:t>4º Semestre · Guia de Revisão e Síntese de Conteúdo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006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B6B85"/>
                </a:solidFill>
                <a:latin typeface="Segoe UI"/>
              </a:rPr>
              <a:t>Docente responsável: Prof. Wesley Soares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Estrutura de Dados 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01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2DD4BF"/>
                </a:solidFill>
                <a:latin typeface="Segoe UI"/>
              </a:rPr>
              <a:t>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VISÃO GERAL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4663440"/>
          </a:xfrm>
          <a:prstGeom prst="roundRect">
            <a:avLst>
              <a:gd name="adj" fmla="val 45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1965960"/>
            <a:ext cx="9814255" cy="3566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F1F5F9"/>
                </a:solidFill>
                <a:latin typeface="Segoe UI"/>
              </a:rPr>
              <a:t>Revisão da disciplina de Estrutura de Dados I ministrada pelo Prof. Ms. Wesley Soares de Souza. O conteúdo abrange fundamentos de algoritmos, análise assintótica (Notação Big O), gerenciamento de memória (Stack vs Heap), alocação dinâmica e estruturas de dados lineares como listas sequenciais.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Estrutura de Dados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02 / 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02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2DD4BF"/>
                </a:solidFill>
                <a:latin typeface="Segoe UI"/>
              </a:rPr>
              <a:t>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CONCEITOS FUNDAMENTAIS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1056132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716786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1678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45336"/>
            <a:ext cx="9585655" cy="800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Tipos Abstratos de Dados (TAD) e Encapsulamento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19756"/>
            <a:ext cx="10911535" cy="1056132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2919222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91922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747772"/>
            <a:ext cx="9585655" cy="800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Análise Assintótica e Notação Big 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22192"/>
            <a:ext cx="10911535" cy="1056132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6112" y="4121658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12165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950208"/>
            <a:ext cx="9585655" cy="800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Gerenciamento de Memória (Stack e Heap) e Garbage Collector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4628"/>
            <a:ext cx="10911535" cy="1056132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6112" y="5324094"/>
            <a:ext cx="457200" cy="457200"/>
          </a:xfrm>
          <a:prstGeom prst="ellipse">
            <a:avLst/>
          </a:prstGeom>
          <a:solidFill>
            <a:srgbClr val="113A38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532409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2DD4BF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152644"/>
            <a:ext cx="9585655" cy="800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Listas Lineares Sequenciais e Alocação Estática/Dinâmica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Estrutura de Dados 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03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03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818CF8"/>
                </a:solidFill>
                <a:latin typeface="Segoe UI"/>
              </a:rPr>
              <a:t>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EXERCÍCIOS &amp; PRÁTICA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1103313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740376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4037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45336"/>
            <a:ext cx="9585655" cy="8472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Refinamento sucessivo de algoritmos e identificação de complexidade temporal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66937"/>
            <a:ext cx="10911535" cy="900071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2888372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88837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794953"/>
            <a:ext cx="9585655" cy="6440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Manipulação de referências, ponteiros e criação de nós em Java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13312"/>
            <a:ext cx="10911535" cy="1045244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6112" y="4007334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00733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841328"/>
            <a:ext cx="9585655" cy="7892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Implementação de listas sequenciais com controle de tamanho e capacidade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904860"/>
            <a:ext cx="10911535" cy="1175899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6112" y="5264210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526421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032876"/>
            <a:ext cx="9585655" cy="91986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Análise de custos operacionais (melhor, pior e caso médio) em algoritmos de busca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Estrutura de Dados 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04 /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59" y="384048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253352"/>
                </a:solidFill>
                <a:latin typeface="Segoe UI"/>
              </a:rPr>
              <a:t>04</a:t>
            </a:r>
          </a:p>
        </p:txBody>
      </p:sp>
      <p:sp>
        <p:nvSpPr>
          <p:cNvPr id="3" name="Oval 2"/>
          <p:cNvSpPr/>
          <p:nvPr/>
        </p:nvSpPr>
        <p:spPr>
          <a:xfrm>
            <a:off x="1600200" y="502920"/>
            <a:ext cx="566928" cy="566928"/>
          </a:xfrm>
          <a:prstGeom prst="ellipse">
            <a:avLst/>
          </a:prstGeom>
          <a:solidFill>
            <a:srgbClr val="151E32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0200" y="5029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2200" b="0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54864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2400" b="1">
                <a:solidFill>
                  <a:srgbClr val="F1F5F9"/>
                </a:solidFill>
                <a:latin typeface="Segoe UI"/>
              </a:rPr>
              <a:t>DICAS DE PROVA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11535" cy="1406704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1892072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9207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45336"/>
            <a:ext cx="9585655" cy="11506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Diferencie claramente o comportamento de Tipos Primitivos (armazenam valor) e Referências (apontam para o Heap).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70328"/>
            <a:ext cx="10911535" cy="1482063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3482760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82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098344"/>
            <a:ext cx="9585655" cy="12260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Foque nas classes de complexidade Big O mais comuns (O(1), O(n), O(n²)) e saiba justificar o custo de loops aninhados.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98696"/>
            <a:ext cx="10911535" cy="1482063"/>
          </a:xfrm>
          <a:prstGeom prst="roundRect">
            <a:avLst>
              <a:gd name="adj" fmla="val 9000"/>
            </a:avLst>
          </a:prstGeom>
          <a:solidFill>
            <a:srgbClr val="151E32"/>
          </a:solidFill>
          <a:ln w="12700">
            <a:solidFill>
              <a:srgbClr val="25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6112" y="5111128"/>
            <a:ext cx="457200" cy="457200"/>
          </a:xfrm>
          <a:prstGeom prst="ellipse">
            <a:avLst/>
          </a:prstGeom>
          <a:solidFill>
            <a:srgbClr val="222452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1111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818CF8"/>
                </a:solidFill>
                <a:latin typeface="Segoe UI"/>
              </a:rPr>
              <a:t>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726712"/>
            <a:ext cx="9585655" cy="12260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1F5F9"/>
                </a:solidFill>
                <a:latin typeface="Segoe UI"/>
              </a:rPr>
              <a:t>Lembre-se da diferença entre o comprimento total de um array (length) e o tamanho real de elementos ocupados na lista.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6355080"/>
            <a:ext cx="10911535" cy="10972"/>
          </a:xfrm>
          <a:prstGeom prst="roundRect">
            <a:avLst>
              <a:gd name="adj" fmla="val 0"/>
            </a:avLst>
          </a:prstGeom>
          <a:solidFill>
            <a:srgbClr val="25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28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UniFEF  ·  Sistemas de Informação  ·  Estrutura de Dados 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64282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2000"/>
              </a:lnSpc>
            </a:pPr>
            <a:r>
              <a:rPr sz="1000" b="0">
                <a:solidFill>
                  <a:srgbClr val="5B6B85"/>
                </a:solidFill>
                <a:latin typeface="Segoe UI"/>
              </a:rPr>
              <a:t>05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