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046720" y="-1828800"/>
            <a:ext cx="6400800" cy="6400800"/>
          </a:xfrm>
          <a:prstGeom prst="ellipse">
            <a:avLst/>
          </a:prstGeom>
          <a:solidFill>
            <a:srgbClr val="2DD4B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286000" y="3840480"/>
            <a:ext cx="5486400" cy="5486400"/>
          </a:xfrm>
          <a:prstGeom prst="ellipse">
            <a:avLst/>
          </a:prstGeom>
          <a:solidFill>
            <a:srgbClr val="818CF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777240"/>
            <a:ext cx="4160520" cy="457200"/>
          </a:xfrm>
          <a:prstGeom prst="roundRect">
            <a:avLst>
              <a:gd name="adj" fmla="val 50000"/>
            </a:avLst>
          </a:prstGeom>
          <a:solidFill>
            <a:srgbClr val="113A38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77724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2DD4BF"/>
                </a:solidFill>
                <a:latin typeface="Segoe UI"/>
              </a:rPr>
              <a:t>🎓 SISTEMAS DE INFORMAÇÃO · UNIFEF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881360" cy="21031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4800" b="1">
                <a:solidFill>
                  <a:srgbClr val="F1F5F9"/>
                </a:solidFill>
                <a:latin typeface="Segoe UI"/>
              </a:rPr>
              <a:t>Engenharia de Software II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160520"/>
            <a:ext cx="502920" cy="41148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34340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4A3B8"/>
                </a:solidFill>
                <a:latin typeface="Segoe UI"/>
              </a:rPr>
              <a:t>4º Semestre · Guia de Revisão e Síntese de Conteúdo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006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B6B85"/>
                </a:solidFill>
                <a:latin typeface="Segoe UI"/>
              </a:rPr>
              <a:t>Docente responsável: Prof. Wesley Soares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6355080"/>
            <a:ext cx="10911535" cy="10972"/>
          </a:xfrm>
          <a:prstGeom prst="roundRect">
            <a:avLst>
              <a:gd name="adj" fmla="val 0"/>
            </a:avLst>
          </a:prstGeom>
          <a:solidFill>
            <a:srgbClr val="25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28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UniFEF  ·  Sistemas de Informação  ·  Engenharia de Software 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64282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01 / 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59" y="384048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5400" b="1">
                <a:solidFill>
                  <a:srgbClr val="253352"/>
                </a:solidFill>
                <a:latin typeface="Segoe UI"/>
              </a:rPr>
              <a:t>01</a:t>
            </a:r>
          </a:p>
        </p:txBody>
      </p:sp>
      <p:sp>
        <p:nvSpPr>
          <p:cNvPr id="3" name="Oval 2"/>
          <p:cNvSpPr/>
          <p:nvPr/>
        </p:nvSpPr>
        <p:spPr>
          <a:xfrm>
            <a:off x="1600200" y="502920"/>
            <a:ext cx="566928" cy="566928"/>
          </a:xfrm>
          <a:prstGeom prst="ellipse">
            <a:avLst/>
          </a:prstGeom>
          <a:solidFill>
            <a:srgbClr val="151E32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029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2200" b="0">
                <a:solidFill>
                  <a:srgbClr val="2DD4BF"/>
                </a:solidFill>
                <a:latin typeface="Segoe UI"/>
              </a:rPr>
              <a:t>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54864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>
                <a:solidFill>
                  <a:srgbClr val="F1F5F9"/>
                </a:solidFill>
                <a:latin typeface="Segoe UI"/>
              </a:rPr>
              <a:t>VISÃO GERAL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911535" cy="4663440"/>
          </a:xfrm>
          <a:prstGeom prst="roundRect">
            <a:avLst>
              <a:gd name="adj" fmla="val 45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19" y="1965960"/>
            <a:ext cx="9814255" cy="3566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F1F5F9"/>
                </a:solidFill>
                <a:latin typeface="Segoe UI"/>
              </a:rPr>
              <a:t>Revisão da disciplina Engenharia de Software II, ministrada pelo Prof. Ms. Wesley Soares de Souza. O conteúdo abrange o ciclo completo de desenvolvimento de software, desde o levantamento e elicitação de requisitos até o projeto orientado a objetos, arquitetura, testes e operação.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355080"/>
            <a:ext cx="10911535" cy="10972"/>
          </a:xfrm>
          <a:prstGeom prst="roundRect">
            <a:avLst>
              <a:gd name="adj" fmla="val 0"/>
            </a:avLst>
          </a:prstGeom>
          <a:solidFill>
            <a:srgbClr val="25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28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UniFEF  ·  Sistemas de Informação  ·  Engenharia de Software 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2815" y="64282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02 / 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59" y="384048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5400" b="1">
                <a:solidFill>
                  <a:srgbClr val="253352"/>
                </a:solidFill>
                <a:latin typeface="Segoe UI"/>
              </a:rPr>
              <a:t>02</a:t>
            </a:r>
          </a:p>
        </p:txBody>
      </p:sp>
      <p:sp>
        <p:nvSpPr>
          <p:cNvPr id="3" name="Oval 2"/>
          <p:cNvSpPr/>
          <p:nvPr/>
        </p:nvSpPr>
        <p:spPr>
          <a:xfrm>
            <a:off x="1600200" y="502920"/>
            <a:ext cx="566928" cy="566928"/>
          </a:xfrm>
          <a:prstGeom prst="ellipse">
            <a:avLst/>
          </a:prstGeom>
          <a:solidFill>
            <a:srgbClr val="151E32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029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2200" b="0">
                <a:solidFill>
                  <a:srgbClr val="2DD4BF"/>
                </a:solidFill>
                <a:latin typeface="Segoe UI"/>
              </a:rPr>
              <a:t>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54864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>
                <a:solidFill>
                  <a:srgbClr val="F1F5F9"/>
                </a:solidFill>
                <a:latin typeface="Segoe UI"/>
              </a:rPr>
              <a:t>CONCEITOS FUNDAMENTAIS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911535" cy="1456944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917192"/>
            <a:ext cx="457200" cy="457200"/>
          </a:xfrm>
          <a:prstGeom prst="ellipse">
            <a:avLst/>
          </a:prstGeom>
          <a:solidFill>
            <a:srgbClr val="113A38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1719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2DD4B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545336"/>
            <a:ext cx="9585655" cy="1200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Engenharia de Requisitos e Elicitação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20568"/>
            <a:ext cx="10911535" cy="1456944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112" y="3520440"/>
            <a:ext cx="457200" cy="457200"/>
          </a:xfrm>
          <a:prstGeom prst="ellipse">
            <a:avLst/>
          </a:prstGeom>
          <a:solidFill>
            <a:srgbClr val="113A38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5204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2DD4B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148584"/>
            <a:ext cx="9585655" cy="1200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Princípios de Projeto Orientado a Objetos (OO)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623816"/>
            <a:ext cx="10911535" cy="1456944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96112" y="5123688"/>
            <a:ext cx="457200" cy="457200"/>
          </a:xfrm>
          <a:prstGeom prst="ellipse">
            <a:avLst/>
          </a:prstGeom>
          <a:solidFill>
            <a:srgbClr val="113A38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51236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2DD4B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751832"/>
            <a:ext cx="9585655" cy="1200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Arquitetura de Software e Padrões de Projeto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6355080"/>
            <a:ext cx="10911535" cy="10972"/>
          </a:xfrm>
          <a:prstGeom prst="roundRect">
            <a:avLst>
              <a:gd name="adj" fmla="val 0"/>
            </a:avLst>
          </a:prstGeom>
          <a:solidFill>
            <a:srgbClr val="25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28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UniFEF  ·  Sistemas de Informação  ·  Engenharia de Software II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64282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03 /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59" y="384048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5400" b="1">
                <a:solidFill>
                  <a:srgbClr val="253352"/>
                </a:solidFill>
                <a:latin typeface="Segoe UI"/>
              </a:rPr>
              <a:t>03</a:t>
            </a:r>
          </a:p>
        </p:txBody>
      </p:sp>
      <p:sp>
        <p:nvSpPr>
          <p:cNvPr id="3" name="Oval 2"/>
          <p:cNvSpPr/>
          <p:nvPr/>
        </p:nvSpPr>
        <p:spPr>
          <a:xfrm>
            <a:off x="1600200" y="502920"/>
            <a:ext cx="566928" cy="566928"/>
          </a:xfrm>
          <a:prstGeom prst="ellipse">
            <a:avLst/>
          </a:prstGeom>
          <a:solidFill>
            <a:srgbClr val="151E32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029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2200" b="0">
                <a:solidFill>
                  <a:srgbClr val="818CF8"/>
                </a:solidFill>
                <a:latin typeface="Segoe UI"/>
              </a:rPr>
              <a:t>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54864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>
                <a:solidFill>
                  <a:srgbClr val="F1F5F9"/>
                </a:solidFill>
                <a:latin typeface="Segoe UI"/>
              </a:rPr>
              <a:t>EXERCÍCIOS &amp; PRÁTICA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911535" cy="1700784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2039112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3911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545336"/>
            <a:ext cx="9585655" cy="14447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Aplicação de técnicas de elicitação como Entrevistas, Workshops e Prototipação (Figma/Penpot)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64408"/>
            <a:ext cx="10911535" cy="1316736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112" y="3694176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69417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392424"/>
            <a:ext cx="9585655" cy="10607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Desenvolvimento do Projeto Integrador em equipes aplicando modelagem UML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27448"/>
            <a:ext cx="10911535" cy="1353312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96112" y="5175504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517550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855464"/>
            <a:ext cx="9585655" cy="10972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Implementação de princípios de design como Baixo Acoplamento e Alta Coesão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6355080"/>
            <a:ext cx="10911535" cy="10972"/>
          </a:xfrm>
          <a:prstGeom prst="roundRect">
            <a:avLst>
              <a:gd name="adj" fmla="val 0"/>
            </a:avLst>
          </a:prstGeom>
          <a:solidFill>
            <a:srgbClr val="25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28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UniFEF  ·  Sistemas de Informação  ·  Engenharia de Software II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64282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04 / 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59" y="384048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5400" b="1">
                <a:solidFill>
                  <a:srgbClr val="253352"/>
                </a:solidFill>
                <a:latin typeface="Segoe UI"/>
              </a:rPr>
              <a:t>04</a:t>
            </a:r>
          </a:p>
        </p:txBody>
      </p:sp>
      <p:sp>
        <p:nvSpPr>
          <p:cNvPr id="3" name="Oval 2"/>
          <p:cNvSpPr/>
          <p:nvPr/>
        </p:nvSpPr>
        <p:spPr>
          <a:xfrm>
            <a:off x="1600200" y="502920"/>
            <a:ext cx="566928" cy="566928"/>
          </a:xfrm>
          <a:prstGeom prst="ellipse">
            <a:avLst/>
          </a:prstGeom>
          <a:solidFill>
            <a:srgbClr val="151E32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029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2200" b="0">
                <a:solidFill>
                  <a:srgbClr val="818CF8"/>
                </a:solidFill>
                <a:latin typeface="Segoe UI"/>
              </a:rPr>
              <a:t>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54864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>
                <a:solidFill>
                  <a:srgbClr val="F1F5F9"/>
                </a:solidFill>
                <a:latin typeface="Segoe UI"/>
              </a:rPr>
              <a:t>DICAS DE PROVA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911535" cy="1620339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998889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888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545336"/>
            <a:ext cx="9585655" cy="136430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Saiba diferenciar Requisitos Funcionais (o que o sistema faz) de Requisitos Não Funcionais (como o sistema se comporta)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83963"/>
            <a:ext cx="10911535" cy="1307164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112" y="3608945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60894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311979"/>
            <a:ext cx="9585655" cy="10511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Compreenda a diferença entre a fase de Análise (o que fazer) e a fase de Projeto OO (como fazer)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637432"/>
            <a:ext cx="10911535" cy="1443327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96112" y="5130496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513049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765448"/>
            <a:ext cx="9585655" cy="11872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Revise os conceitos dos pilares da orientação a objetos: Abstração, Encapsulamento, Herança e Polimorfismo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6355080"/>
            <a:ext cx="10911535" cy="10972"/>
          </a:xfrm>
          <a:prstGeom prst="roundRect">
            <a:avLst>
              <a:gd name="adj" fmla="val 0"/>
            </a:avLst>
          </a:prstGeom>
          <a:solidFill>
            <a:srgbClr val="25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28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UniFEF  ·  Sistemas de Informação  ·  Engenharia de Software II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64282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05 / 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