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828800"/>
            <a:ext cx="6400800" cy="6400800"/>
          </a:xfrm>
          <a:prstGeom prst="ellipse">
            <a:avLst/>
          </a:prstGeom>
          <a:solidFill>
            <a:srgbClr val="2DD4B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818CF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777240"/>
            <a:ext cx="4160520" cy="457200"/>
          </a:xfrm>
          <a:prstGeom prst="roundRect">
            <a:avLst>
              <a:gd name="adj" fmla="val 50000"/>
            </a:avLst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2DD4BF"/>
                </a:solidFill>
                <a:latin typeface="Segoe UI"/>
              </a:rPr>
              <a:t>🎓 SISTEMAS DE INFORMAÇÃO · UNIFEF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21031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1F5F9"/>
                </a:solidFill>
                <a:latin typeface="Segoe UI"/>
              </a:rPr>
              <a:t>Laboratório de Programação IV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502920" cy="41148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4A3B8"/>
                </a:solidFill>
                <a:latin typeface="Segoe UI"/>
              </a:rPr>
              <a:t>4º Semestre · Guia de Revisão e Síntese de Conteúdo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B6B85"/>
                </a:solidFill>
                <a:latin typeface="Segoe UI"/>
              </a:rPr>
              <a:t>Docente responsável: Prof. Jefferson Passerini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Laboratório de Programação 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01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2DD4BF"/>
                </a:solidFill>
                <a:latin typeface="Segoe UI"/>
              </a:rPr>
              <a:t>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VISÃO GERAL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4663440"/>
          </a:xfrm>
          <a:prstGeom prst="roundRect">
            <a:avLst>
              <a:gd name="adj" fmla="val 45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1965960"/>
            <a:ext cx="9814255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F1F5F9"/>
                </a:solidFill>
                <a:latin typeface="Segoe UI"/>
              </a:rPr>
              <a:t>A disciplina de Laboratório de Programação IV, ministrada pelo Prof. Jefferson Passerini no 4º semestre, foca no desenvolvimento prático e suporte a sistemas operacionais e aplicações. O escopo abrange o uso de ferramentas modernas de versionamento de código e colaboração, essenciais para o fluxo de trabalho de um desenvolvedor profissional. O conteúdo serve como base tecnológica para projetos integrados e manutenção de software.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Laboratório de Programação 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02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2DD4BF"/>
                </a:solidFill>
                <a:latin typeface="Segoe UI"/>
              </a:rPr>
              <a:t>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CONCEITOS FUNDAMENTAIS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1418458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897949"/>
            <a:ext cx="457200" cy="457200"/>
          </a:xfrm>
          <a:prstGeom prst="ellipse">
            <a:avLst/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9794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45336"/>
            <a:ext cx="9585655" cy="11624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Controle de versão com Git para rastrear alterações no código-fonte ao longo do tempo.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82082"/>
            <a:ext cx="10911535" cy="1253521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3380243"/>
            <a:ext cx="457200" cy="457200"/>
          </a:xfrm>
          <a:prstGeom prst="ellipse">
            <a:avLst/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8024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10098"/>
            <a:ext cx="9585655" cy="99748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Hospedagem de código e colaboração em equipe utilizando a plataforma GitHub.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81908"/>
            <a:ext cx="10911535" cy="1698851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5002734"/>
            <a:ext cx="457200" cy="457200"/>
          </a:xfrm>
          <a:prstGeom prst="ellipse">
            <a:avLst/>
          </a:prstGeom>
          <a:solidFill>
            <a:srgbClr val="113A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00273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09924"/>
            <a:ext cx="9585655" cy="14428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Gerenciamento de repositórios oficiais da disciplina para acesso a materiais de suporte e atualizações.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Laboratório de Programação 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03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818CF8"/>
                </a:solidFill>
                <a:latin typeface="Segoe UI"/>
              </a:rPr>
              <a:t>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EXERCÍCIOS &amp; PRÁTICA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1271840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824640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45336"/>
            <a:ext cx="9585655" cy="1015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Clonagem e acesso ao repositório oficial da disciplina (suporteos2026).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5464"/>
            <a:ext cx="10911535" cy="1612192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3412960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12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63480"/>
            <a:ext cx="9585655" cy="1356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Utilização de links diretos do GitHub para obtenção de recursos e atualizações da matéria.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93960"/>
            <a:ext cx="10911535" cy="1486799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5108760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21976"/>
            <a:ext cx="9585655" cy="12307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Organização e estruturação de projetos práticos seguindo os padrões do repositório.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Laboratório de Programação 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59" y="384048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5400" b="1">
                <a:solidFill>
                  <a:srgbClr val="253352"/>
                </a:solidFill>
                <a:latin typeface="Segoe UI"/>
              </a:rPr>
              <a:t>04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502920"/>
            <a:ext cx="566928" cy="566928"/>
          </a:xfrm>
          <a:prstGeom prst="ellipse">
            <a:avLst/>
          </a:prstGeom>
          <a:solidFill>
            <a:srgbClr val="151E32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2200" b="0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54864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2400" b="1">
                <a:solidFill>
                  <a:srgbClr val="F1F5F9"/>
                </a:solidFill>
                <a:latin typeface="Segoe UI"/>
              </a:rPr>
              <a:t>DICAS DE PROVA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11535" cy="1270414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823927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392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45336"/>
            <a:ext cx="9585655" cy="101438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Familiarize-se com os links e repositórios oficiais disponibilizados pelo professor.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038"/>
            <a:ext cx="10911535" cy="1512398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3361638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6163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62054"/>
            <a:ext cx="9585655" cy="1256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Acompanhe regularmente o repositório suporteos2026 para eventuais atualizações de conteúdo e código.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92741"/>
            <a:ext cx="10911535" cy="1588018"/>
          </a:xfrm>
          <a:prstGeom prst="roundRect">
            <a:avLst>
              <a:gd name="adj" fmla="val 9000"/>
            </a:avLst>
          </a:prstGeom>
          <a:solidFill>
            <a:srgbClr val="151E32"/>
          </a:solidFill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5058150"/>
            <a:ext cx="457200" cy="457200"/>
          </a:xfrm>
          <a:prstGeom prst="ellipse">
            <a:avLst/>
          </a:prstGeom>
          <a:solidFill>
            <a:srgbClr val="222452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05815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818CF8"/>
                </a:solidFill>
                <a:latin typeface="Segoe UI"/>
              </a:rP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620757"/>
            <a:ext cx="9585655" cy="133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1F5F9"/>
                </a:solidFill>
                <a:latin typeface="Segoe UI"/>
              </a:rPr>
              <a:t>Compreenda a importância do versionamento de código e onde encontrar os materiais de apoio da disciplina.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355080"/>
            <a:ext cx="10911535" cy="10972"/>
          </a:xfrm>
          <a:prstGeom prst="roundRect">
            <a:avLst>
              <a:gd name="adj" fmla="val 0"/>
            </a:avLst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28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UniFEF  ·  Sistemas de Informação  ·  Laboratório de Programação 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28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22000"/>
              </a:lnSpc>
            </a:pPr>
            <a:r>
              <a:rPr sz="1000" b="0">
                <a:solidFill>
                  <a:srgbClr val="5B6B85"/>
                </a:solidFill>
                <a:latin typeface="Segoe UI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